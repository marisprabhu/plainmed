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6" d="100"/>
          <a:sy n="86" d="100"/>
        </p:scale>
        <p:origin x="798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270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holding a paper lab report. 'My mother got one of these and Googled her way to a cancer scare over a value that was fine.' Then: watch.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minutes with a doctor. A document they cannot read about a body they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goes here: phone, photo, review screen, explanation. Roughly 1.3 seconds for OCR.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moment: feed it a statement with a wrong number and a diagnosis, and show the validator dropping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scripts/deident_check.py live here. 0.36 seconds, 14 identifier categories withheld, clinical content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novel contribution: using a multimodal medical model as an independent verifier rather than as a generator of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 cost will not be the constraint; idle capacity will. Fill in the measured latency and peak VRAM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 is also a cheaper compliance path than the US or EU: no BAA regime, health data has no special category, and cross-border transfer is permissive.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these live. Terminal printing PASS in under a second beats a bullet point claiming the same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ask. Do not keep talking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822960" y="18288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PlainMed</a:t>
            </a:r>
            <a:endParaRPr lang="en-US" sz="6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reports. Private by design.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527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photographs a lab report and gets back an explanation where every sentence points at the line that supports it — and the AI never learns who they are.</a:t>
            </a:r>
            <a:endParaRPr lang="en-US" sz="15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22960" y="58978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Google MedGemma  ·  Served with NVIDIA TensorRT-LLM  ·  Launching India</a:t>
            </a:r>
            <a:endParaRPr lang="en-US" sz="13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609F4BC-413E-0F2E-4B9D-6103CBF54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14" y="341180"/>
            <a:ext cx="1545063" cy="1545063"/>
          </a:xfrm>
          <a:prstGeom prst="rect">
            <a:avLst/>
          </a:prstGeom>
        </p:spPr>
      </p:pic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C47EBD6D-87EF-6C8D-265C-9C04F98C1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46652"/>
            <a:ext cx="5804795" cy="32047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patient can read every word and understand nothing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Shape 3"/>
          <p:cNvSpPr/>
          <p:nvPr/>
        </p:nvSpPr>
        <p:spPr>
          <a:xfrm>
            <a:off x="914400" y="2395728"/>
            <a:ext cx="493776" cy="49377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272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66160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strip away the context of this report — this value, this range, this lab. The worst-case reading wins the click.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9120" y="2103120"/>
            <a:ext cx="347472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0" name="Shape 8"/>
          <p:cNvSpPr/>
          <p:nvPr/>
        </p:nvSpPr>
        <p:spPr>
          <a:xfrm>
            <a:off x="4663440" y="2395728"/>
            <a:ext cx="493776" cy="49377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 txBox="1"/>
          <p:nvPr/>
        </p:nvSpPr>
        <p:spPr>
          <a:xfrm>
            <a:off x="4663440" y="23957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272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a chatbot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566160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sensitive document a person owns leaves their device, is cached, and may train a model.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3383280" cy="2743200"/>
          </a:xfrm>
          <a:prstGeom prst="roundRect">
            <a:avLst>
              <a:gd name="adj" fmla="val 1667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16324F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 txBox="1"/>
          <p:nvPr/>
        </p:nvSpPr>
        <p:spPr>
          <a:xfrm>
            <a:off x="8412480" y="239572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can do the one thing that matters: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4015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its source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9776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check an answer you cannot trace.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patients arrive at appointments anxious about the wrong things — and without the questions that would actually help them.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Photograph it. Check it. Understand it.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5146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Shape 3"/>
          <p:cNvSpPr/>
          <p:nvPr/>
        </p:nvSpPr>
        <p:spPr>
          <a:xfrm>
            <a:off x="896112" y="22860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" name="Text 4"/>
          <p:cNvSpPr txBox="1"/>
          <p:nvPr/>
        </p:nvSpPr>
        <p:spPr>
          <a:xfrm>
            <a:off x="89611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971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the paper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on any phone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429000" y="2057400"/>
            <a:ext cx="25146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1" name="Shape 9"/>
          <p:cNvSpPr/>
          <p:nvPr/>
        </p:nvSpPr>
        <p:spPr>
          <a:xfrm>
            <a:off x="3685032" y="22860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 txBox="1"/>
          <p:nvPr/>
        </p:nvSpPr>
        <p:spPr>
          <a:xfrm>
            <a:off x="368503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85032" y="2971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was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read. Correct anything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17920" y="2057400"/>
            <a:ext cx="25146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7" name="Shape 15"/>
          <p:cNvSpPr/>
          <p:nvPr/>
        </p:nvSpPr>
        <p:spPr>
          <a:xfrm>
            <a:off x="6473952" y="22860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 txBox="1"/>
          <p:nvPr/>
        </p:nvSpPr>
        <p:spPr>
          <a:xfrm>
            <a:off x="647395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2971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language, every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source-linked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9006840" y="2057400"/>
            <a:ext cx="25146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3" name="Shape 21"/>
          <p:cNvSpPr/>
          <p:nvPr/>
        </p:nvSpPr>
        <p:spPr>
          <a:xfrm>
            <a:off x="9262872" y="22860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4" name="Text 22"/>
          <p:cNvSpPr txBox="1"/>
          <p:nvPr/>
        </p:nvSpPr>
        <p:spPr>
          <a:xfrm>
            <a:off x="926287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82980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262872" y="2971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take to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clinician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3226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16324F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8" name="Text 26"/>
          <p:cNvSpPr txBox="1"/>
          <p:nvPr/>
        </p:nvSpPr>
        <p:spPr>
          <a:xfrm>
            <a:off x="914400" y="48280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explained until a person confirms what was read.</a:t>
            </a:r>
            <a:endParaRPr lang="en-US" sz="17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914400" y="52120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tells you the OCR was sure. It does not tell you it was right — so the review step is mandatory, not conditional. It is also where a misread digit gets caught by the one person who can see the paper.</a:t>
            </a:r>
            <a:endParaRPr lang="en-US" sz="135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generated 13.5 is indistinguishable from a hallucinated 13.5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language model is never allowed to produce 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429000" cy="2971800"/>
          </a:xfrm>
          <a:prstGeom prst="roundRect">
            <a:avLst>
              <a:gd name="adj" fmla="val 1846"/>
            </a:avLst>
          </a:prstGeom>
          <a:solidFill>
            <a:srgbClr val="1E4160"/>
          </a:solidFill>
          <a:ln w="12700">
            <a:solidFill>
              <a:srgbClr val="2A557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" name="Text 4"/>
          <p:cNvSpPr txBox="1"/>
          <p:nvPr/>
        </p:nvSpPr>
        <p:spPr>
          <a:xfrm>
            <a:off x="914400" y="248716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Parser owns the numbers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10128"/>
            <a:ext cx="2907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value, unit, range and flag is extracted deterministically. Reproducible, unit-tested, and incapable of inventing a digit.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2240280"/>
            <a:ext cx="3429000" cy="2971800"/>
          </a:xfrm>
          <a:prstGeom prst="roundRect">
            <a:avLst>
              <a:gd name="adj" fmla="val 1846"/>
            </a:avLst>
          </a:prstGeom>
          <a:solidFill>
            <a:srgbClr val="1E4160"/>
          </a:solidFill>
          <a:ln w="12700">
            <a:solidFill>
              <a:srgbClr val="2A557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 txBox="1"/>
          <p:nvPr/>
        </p:nvSpPr>
        <p:spPr>
          <a:xfrm>
            <a:off x="4636008" y="248716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owns the prose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3310128"/>
            <a:ext cx="2907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MedGemma writes the explanation around values that were already extracted. It can improve how this reads. It cannot change what it says.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83296" y="2240280"/>
            <a:ext cx="3429000" cy="2971800"/>
          </a:xfrm>
          <a:prstGeom prst="roundRect">
            <a:avLst>
              <a:gd name="adj" fmla="val 1846"/>
            </a:avLst>
          </a:prstGeom>
          <a:solidFill>
            <a:srgbClr val="1E4160"/>
          </a:solidFill>
          <a:ln w="12700">
            <a:solidFill>
              <a:srgbClr val="2A557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 txBox="1"/>
          <p:nvPr/>
        </p:nvSpPr>
        <p:spPr>
          <a:xfrm>
            <a:off x="8357616" y="248716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CD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Validator owns the truth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357616" y="3310128"/>
            <a:ext cx="2907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line must exist. Every number must appear in it. No diagnosis, no treatment advice, no reassurance.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see hallucination demos constantly. PlainMed demonstrates catching one — live, on stage.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GPU never learns who the patient is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9105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GPU marketplaces will not sign healthcare data agreements. So we made the GPU not handle patient data at all.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1208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6" name="Text 4"/>
          <p:cNvSpPr txBox="1"/>
          <p:nvPr/>
        </p:nvSpPr>
        <p:spPr>
          <a:xfrm>
            <a:off x="914400" y="2313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TIER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694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· handles identifiable data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71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  →  OCR  →  parse  →  de-identify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015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burden lives here — and it is the cheap tier to run.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~$0.03/hr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4526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only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0" y="2148840"/>
            <a:ext cx="466344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 txBox="1"/>
          <p:nvPr/>
        </p:nvSpPr>
        <p:spPr>
          <a:xfrm>
            <a:off x="7132320" y="2267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56946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· no identifiers, no BAA needed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29718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Glucose 108 mg/dL (ref 70-99) [H]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34015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name, no DOB, no record number. Verified in CI against 14 identifier categories.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$0.17/hr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881360" cy="1051560"/>
          </a:xfrm>
          <a:prstGeom prst="roundRect">
            <a:avLst>
              <a:gd name="adj" fmla="val 4348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16324F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 txBox="1"/>
          <p:nvPr/>
        </p:nvSpPr>
        <p:spPr>
          <a:xfrm>
            <a:off x="914400" y="519379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tier that is expensive to comply with is CPU-cheap. The tier that is expensive to run carries no compliance burden.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5595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De-identification is an allowlist, not a scrubber: the text is rebuilt from parsed fields, so a line containing a name never had a path through.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MedGemma, used as a second reader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9105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build hands the photo to MedGemma and deletes the OCR pipeline. We deliberately did not.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4924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MedGemma 1.5 4B gives us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32688" y="2999232"/>
            <a:ext cx="146304" cy="146304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 txBox="1"/>
          <p:nvPr/>
        </p:nvSpPr>
        <p:spPr>
          <a:xfrm>
            <a:off x="1207008" y="291693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weights — runs on hardware we control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32688" y="3456432"/>
            <a:ext cx="146304" cy="146304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 txBox="1"/>
          <p:nvPr/>
        </p:nvSpPr>
        <p:spPr>
          <a:xfrm>
            <a:off x="1207008" y="337413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Medically tuned, with document understanding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2688" y="3913632"/>
            <a:ext cx="146304" cy="146304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 txBox="1"/>
          <p:nvPr/>
        </p:nvSpPr>
        <p:spPr>
          <a:xfrm>
            <a:off x="1207008" y="383133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Multimodal: a vision encoder that reads the page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2688" y="4370832"/>
            <a:ext cx="146304" cy="146304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 txBox="1"/>
          <p:nvPr/>
        </p:nvSpPr>
        <p:spPr>
          <a:xfrm>
            <a:off x="1207008" y="428853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context, and a 4B size that fits cheap GPUs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2194560"/>
            <a:ext cx="5349240" cy="3063240"/>
          </a:xfrm>
          <a:prstGeom prst="roundRect">
            <a:avLst>
              <a:gd name="adj" fmla="val 1493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16324F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 txBox="1"/>
          <p:nvPr/>
        </p:nvSpPr>
        <p:spPr>
          <a:xfrm>
            <a:off x="644652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 the vision encoder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88036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same photo independently — a second radiologist, not a replacement for the first.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6576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agree  →  real confidence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02336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differ  →  a human is asked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5262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raise a question. It can never overwrite an answer.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 are used under Google's Health AI Developer Foundations terms.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Served on NVIDIA, priced like a rounding error</a:t>
            </a:r>
            <a:endParaRPr lang="en-US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159105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behind a TensorRT-LLM engine, without inference concerns leaking into application code.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257800" cy="1298448"/>
          </a:xfrm>
          <a:prstGeom prst="roundRect">
            <a:avLst>
              <a:gd name="adj" fmla="val 4225"/>
            </a:avLst>
          </a:prstGeom>
          <a:solidFill>
            <a:srgbClr val="1E416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" name="Text 4"/>
          <p:cNvSpPr txBox="1"/>
          <p:nvPr/>
        </p:nvSpPr>
        <p:spPr>
          <a:xfrm>
            <a:off x="914400" y="23865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 / TensorRT-LLM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432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FP8, XQA and paged attention behind an OpenAI-compatible API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40280"/>
            <a:ext cx="5257800" cy="1298448"/>
          </a:xfrm>
          <a:prstGeom prst="roundRect">
            <a:avLst>
              <a:gd name="adj" fmla="val 4225"/>
            </a:avLst>
          </a:prstGeom>
          <a:solidFill>
            <a:srgbClr val="1E416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 txBox="1"/>
          <p:nvPr/>
        </p:nvSpPr>
        <p:spPr>
          <a:xfrm>
            <a:off x="6446520" y="23865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NF4 weights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7432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4B model onto a 16 GB commodity card, roughly halving hourly cost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721608"/>
            <a:ext cx="5257800" cy="1298448"/>
          </a:xfrm>
          <a:prstGeom prst="roundRect">
            <a:avLst>
              <a:gd name="adj" fmla="val 4225"/>
            </a:avLst>
          </a:prstGeom>
          <a:solidFill>
            <a:srgbClr val="1E416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 txBox="1"/>
          <p:nvPr/>
        </p:nvSpPr>
        <p:spPr>
          <a:xfrm>
            <a:off x="914400" y="38679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GPU, two jobs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22452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and MedGemma share the accelerator — a scan needs one, not two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721608"/>
            <a:ext cx="5257800" cy="1298448"/>
          </a:xfrm>
          <a:prstGeom prst="roundRect">
            <a:avLst>
              <a:gd name="adj" fmla="val 4225"/>
            </a:avLst>
          </a:prstGeom>
          <a:solidFill>
            <a:srgbClr val="1E416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 txBox="1"/>
          <p:nvPr/>
        </p:nvSpPr>
        <p:spPr>
          <a:xfrm>
            <a:off x="6446520" y="38679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Degrades, never fails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22452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available? Validated template explanations still ship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349240"/>
            <a:ext cx="10881360" cy="960120"/>
          </a:xfrm>
          <a:prstGeom prst="roundRect">
            <a:avLst>
              <a:gd name="adj" fmla="val 4762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2DD4BF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GPU never sees patient data, it does not need a compliance-grade host — so inference costs a fraction of a cent per report.</a:t>
            </a:r>
            <a:endParaRPr lang="en-US" sz="145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LAUNCH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first, in the language the patient actually reads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5146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 txBox="1"/>
          <p:nvPr/>
        </p:nvSpPr>
        <p:spPr>
          <a:xfrm>
            <a:off x="859536" y="21945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$20.5B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798064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diagnostics market, 2026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2057400"/>
            <a:ext cx="25146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 txBox="1"/>
          <p:nvPr/>
        </p:nvSpPr>
        <p:spPr>
          <a:xfrm>
            <a:off x="3648456" y="21945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2.5B+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648456" y="2798064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tests/year projected by 2031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25146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 txBox="1"/>
          <p:nvPr/>
        </p:nvSpPr>
        <p:spPr>
          <a:xfrm>
            <a:off x="6437376" y="21945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37376" y="2798064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that is pathology — our input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6840" y="2057400"/>
            <a:ext cx="25146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 txBox="1"/>
          <p:nvPr/>
        </p:nvSpPr>
        <p:spPr>
          <a:xfrm>
            <a:off x="9226296" y="21945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→ 10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798064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English + Hindi today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5349240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 txBox="1"/>
          <p:nvPr/>
        </p:nvSpPr>
        <p:spPr>
          <a:xfrm>
            <a:off x="914400" y="40050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is a legal requirement, not a feature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3891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DPDP Act requires the consent notice in English or an Eighth Schedule language. A patient who cannot read the notice cannot consent to it.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230368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Shipping: English, हिन्दी  →  Tamil, Telugu, Bengali, Marathi, Gujarati, Kannada, Malayalam, Punjabi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794760"/>
            <a:ext cx="5349240" cy="2212848"/>
          </a:xfrm>
          <a:prstGeom prst="roundRect">
            <a:avLst>
              <a:gd name="adj" fmla="val 2066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 txBox="1"/>
          <p:nvPr/>
        </p:nvSpPr>
        <p:spPr>
          <a:xfrm>
            <a:off x="6446520" y="40050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DPDP from the start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4439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4443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Itemised notice before any processing (Rule 3)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8280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withdrawal as easy as giving it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2120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5212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Under-18 excluded and enforced in code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5961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720840" y="5596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stored, so nothing to breach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this is a claim. Watch it run.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51460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 txBox="1"/>
          <p:nvPr/>
        </p:nvSpPr>
        <p:spPr>
          <a:xfrm>
            <a:off x="859536" y="21945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862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3172968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parser, validation,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OCR, security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2057400"/>
            <a:ext cx="251460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 txBox="1"/>
          <p:nvPr/>
        </p:nvSpPr>
        <p:spPr>
          <a:xfrm>
            <a:off x="3648456" y="21945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s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648456" y="2862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to values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48456" y="3172968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only, before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GPU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057400"/>
            <a:ext cx="251460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 txBox="1"/>
          <p:nvPr/>
        </p:nvSpPr>
        <p:spPr>
          <a:xfrm>
            <a:off x="6437376" y="21945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2862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 in CI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3172968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retention,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de-identification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06840" y="2057400"/>
            <a:ext cx="251460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25400" dir="5400000" algn="bl" rotWithShape="0">
              <a:srgbClr val="0A1622">
                <a:alpha val="16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 txBox="1"/>
          <p:nvPr/>
        </p:nvSpPr>
        <p:spPr>
          <a:xfrm>
            <a:off x="9226296" y="21945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2862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stored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3172968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from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app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108813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 txBox="1"/>
          <p:nvPr/>
        </p:nvSpPr>
        <p:spPr>
          <a:xfrm>
            <a:off x="822960" y="4279392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27939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offline_check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4279392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runs with every socket blocked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0" y="427939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0.55 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882896"/>
            <a:ext cx="108813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6" name="Text 24"/>
          <p:cNvSpPr txBox="1"/>
          <p:nvPr/>
        </p:nvSpPr>
        <p:spPr>
          <a:xfrm>
            <a:off x="822960" y="4882896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88289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retention_check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4882896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 written, no report content in any log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0" y="4882896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 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5486400"/>
            <a:ext cx="108813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1" name="Text 29"/>
          <p:cNvSpPr txBox="1"/>
          <p:nvPr/>
        </p:nvSpPr>
        <p:spPr>
          <a:xfrm>
            <a:off x="822960" y="5486400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548640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deident_check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114800" y="548640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identifier categories never reach the model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0241280" y="548640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0.36 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solidFill>
            <a:srgbClr val="0F766E">
              <a:alpha val="22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8595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Photograph the report.</a:t>
            </a:r>
            <a:endParaRPr lang="en-US" sz="42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it. Own it.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718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 AI that shows its work, and never learns your name.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03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to explanation, 132 tests, 3 safety proofs green in CI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165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60 days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44165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MedGemma on NVIDIA GPUs, clinician review, 5 more Indian languages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2978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512978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access to move from validated architecture to measured performance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5943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PlainMed  ·  clear reports, private by design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1333</Words>
  <Application>Microsoft Office PowerPoint</Application>
  <PresentationFormat>Widescreen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PlainMed - GTC</dc:title>
  <dc:subject>PptxGenJS Presentation</dc:subject>
  <dc:creator>PlainMed</dc:creator>
  <cp:lastModifiedBy>Maris Prabhakaran M</cp:lastModifiedBy>
  <cp:revision>2</cp:revision>
  <dcterms:created xsi:type="dcterms:W3CDTF">2026-08-28T17:15:02Z</dcterms:created>
  <dcterms:modified xsi:type="dcterms:W3CDTF">2026-08-30T08:32:40Z</dcterms:modified>
</cp:coreProperties>
</file>