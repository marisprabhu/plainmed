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324F"/>
                </a:solidFill>
                <a:latin typeface="Calibri"/>
              </a:defRPr>
            </a:pPr>
            <a:r>
              <a:rPr sz="1200" b="0" i="0" u="none" strike="noStrike">
                <a:solidFill>
                  <a:srgbClr val="16324F"/>
                </a:solidFill>
                <a:latin typeface="Calibri"/>
              </a:rPr>
              <a:t>Coverage across the 5 synthetic reports</a:t>
            </a:r>
          </a:p>
        </c:rich>
      </c:tx>
      <c:layout/>
      <c:overlay val="0"/>
    </c:title>
    <c:autoTitleDeleted val="0"/>
    <c:plotArea>
      <c:layout/>
      <c:barChart>
        <c:barDir val="col"/>
        <c:grouping val="clustered"/>
        <c:varyColors val="0"/>
        <c:ser>
          <c:idx val="0"/>
          <c:order val="0"/>
          <c:tx>
            <c:strRef>
              <c:f>Sheet1!$B$1</c:f>
              <c:strCache>
                <c:ptCount val="1"/>
                <c:pt idx="0">
                  <c:v>Values extracted</c:v>
                </c:pt>
              </c:strCache>
            </c:strRef>
          </c:tx>
          <c:spPr>
            <a:solidFill>
              <a:srgbClr val="0F766E"/>
            </a:solidFill>
            <a:effectLst/>
          </c:spPr>
          <c:invertIfNegative val="0"/>
          <c:dLbls>
            <c:numFmt formatCode="#,##0" sourceLinked="0"/>
            <c:txPr>
              <a:bodyPr/>
              <a:lstStyle/>
              <a:p>
                <a:pPr>
                  <a:defRPr b="0" i="0" strike="noStrike" sz="900" u="none">
                    <a:solidFill>
                      <a:srgbClr val="64748B"/>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CBC</c:v>
                  </c:pt>
                  <c:pt idx="1">
                    <c:v>Metabolic</c:v>
                  </c:pt>
                  <c:pt idx="2">
                    <c:v>Lipid</c:v>
                  </c:pt>
                  <c:pt idx="3">
                    <c:v>Thyroid/Iron</c:v>
                  </c:pt>
                  <c:pt idx="4">
                    <c:v>Liver</c:v>
                  </c:pt>
                </c:lvl>
              </c:multiLvlStrCache>
            </c:multiLvlStrRef>
          </c:cat>
          <c:val>
            <c:numRef>
              <c:f>Sheet1!$B$2:$B$6</c:f>
              <c:numCache>
                <c:formatCode>General</c:formatCode>
                <c:ptCount val="5"/>
                <c:pt idx="0">
                  <c:v>6</c:v>
                </c:pt>
                <c:pt idx="1">
                  <c:v>7</c:v>
                </c:pt>
                <c:pt idx="2">
                  <c:v>4</c:v>
                </c:pt>
                <c:pt idx="3">
                  <c:v>5</c:v>
                </c:pt>
                <c:pt idx="4">
                  <c:v>7</c:v>
                </c:pt>
              </c:numCache>
            </c:numRef>
          </c:val>
        </c:ser>
        <c:ser>
          <c:idx val="1"/>
          <c:order val="1"/>
          <c:tx>
            <c:strRef>
              <c:f>Sheet1!$C$1</c:f>
              <c:strCache>
                <c:ptCount val="1"/>
                <c:pt idx="0">
                  <c:v>Explanation cards</c:v>
                </c:pt>
              </c:strCache>
            </c:strRef>
          </c:tx>
          <c:spPr>
            <a:solidFill>
              <a:srgbClr val="9AD4C8"/>
            </a:solidFill>
            <a:effectLst/>
          </c:spPr>
          <c:invertIfNegative val="0"/>
          <c:dLbls>
            <c:numFmt formatCode="#,##0" sourceLinked="0"/>
            <c:txPr>
              <a:bodyPr/>
              <a:lstStyle/>
              <a:p>
                <a:pPr>
                  <a:defRPr b="0" i="0" strike="noStrike" sz="900" u="none">
                    <a:solidFill>
                      <a:srgbClr val="64748B"/>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CBC</c:v>
                  </c:pt>
                  <c:pt idx="1">
                    <c:v>Metabolic</c:v>
                  </c:pt>
                  <c:pt idx="2">
                    <c:v>Lipid</c:v>
                  </c:pt>
                  <c:pt idx="3">
                    <c:v>Thyroid/Iron</c:v>
                  </c:pt>
                  <c:pt idx="4">
                    <c:v>Liver</c:v>
                  </c:pt>
                </c:lvl>
              </c:multiLvlStrCache>
            </c:multiLvlStrRef>
          </c:cat>
          <c:val>
            <c:numRef>
              <c:f>Sheet1!$C$2:$C$6</c:f>
              <c:numCache>
                <c:formatCode>General</c:formatCode>
                <c:ptCount val="5"/>
                <c:pt idx="0">
                  <c:v>13</c:v>
                </c:pt>
                <c:pt idx="1">
                  <c:v>15</c:v>
                </c:pt>
                <c:pt idx="2">
                  <c:v>13</c:v>
                </c:pt>
                <c:pt idx="3">
                  <c:v>12</c:v>
                </c:pt>
                <c:pt idx="4">
                  <c:v>15</c:v>
                </c:pt>
              </c:numCache>
            </c:numRef>
          </c:val>
        </c:ser>
        <c:dLbls>
          <c:numFmt formatCode="#,##0" sourceLinked="0"/>
          <c:txPr>
            <a:bodyPr/>
            <a:lstStyle/>
            <a:p>
              <a:pPr>
                <a:defRPr b="0" i="0" strike="noStrike" sz="900" u="none">
                  <a:solidFill>
                    <a:srgbClr val="64748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PlainMed turns confusing medical reports into clear, source-linked explanations using an open model running locally. Demo headline: disconnect the internet, understand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Patients receive reports with unfamiliar terminology, numbers and abbreviations. Searching online removes context; uploading to cloud services introduces privacy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original report with highlighted source passages. Right: cards for findings, terminology and information not specified. Bottom: comprehension questions and questions for the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clearly in the interface: what the report says versus what a term means. Labels like 'Marked high in your report', never 'Dangerous'. Being inside a reference range is never equated with being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deliberate change from the original plan: the deterministic engine is the core and the model is an optional enhancement, so the app is useful and safe on any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text is untrusted data and model output is untrusted until validated. Instructions embedded in a report cannot change application behaviour - covered by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disconnect the network in front of the audience, then run a full report through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 failures as well as successes. Synthetic tests demonstrate engineering behaviour, not clinical safety or improved patient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MedGemma supports medical document understanding and Google provides local GPU inference examples. It is a starting point requiring application-specific validation, not a clinically validated product. Its model terms are separate from the application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submission is a small working app with evidence, not a large feature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0F766E">
              <a:alpha val="22000"/>
            </a:srgbClr>
          </a:solidFill>
          <a:ln w="12700">
            <a:solidFill>
              <a:srgbClr val="0F766E"/>
            </a:solidFill>
            <a:prstDash val="solid"/>
          </a:ln>
        </p:spPr>
      </p:sp>
      <p:sp>
        <p:nvSpPr>
          <p:cNvPr id="3" name="Shape 1"/>
          <p:cNvSpPr/>
          <p:nvPr/>
        </p:nvSpPr>
        <p:spPr>
          <a:xfrm>
            <a:off x="10058400" y="4023360"/>
            <a:ext cx="3108960" cy="3108960"/>
          </a:xfrm>
          <a:prstGeom prst="ellipse">
            <a:avLst/>
          </a:prstGeom>
          <a:solidFill>
            <a:srgbClr val="2DD4BF">
              <a:alpha val="12000"/>
            </a:srgbClr>
          </a:solidFill>
          <a:ln w="12700">
            <a:solidFill>
              <a:srgbClr val="2DD4BF"/>
            </a:solidFill>
            <a:prstDash val="solid"/>
          </a:ln>
        </p:spPr>
      </p:sp>
      <p:sp>
        <p:nvSpPr>
          <p:cNvPr id="4" name="Text 2"/>
          <p:cNvSpPr txBox="1"/>
          <p:nvPr/>
        </p:nvSpPr>
        <p:spPr>
          <a:xfrm>
            <a:off x="822960" y="1965960"/>
            <a:ext cx="7680960" cy="118872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PlainMed</a:t>
            </a:r>
            <a:endParaRPr lang="en-US" sz="6200" dirty="0"/>
          </a:p>
        </p:txBody>
      </p:sp>
      <p:sp>
        <p:nvSpPr>
          <p:cNvPr id="5" name="Text 3"/>
          <p:cNvSpPr txBox="1"/>
          <p:nvPr/>
        </p:nvSpPr>
        <p:spPr>
          <a:xfrm>
            <a:off x="822960" y="3127248"/>
            <a:ext cx="7680960" cy="457200"/>
          </a:xfrm>
          <a:prstGeom prst="rect">
            <a:avLst/>
          </a:prstGeom>
          <a:noFill/>
          <a:ln/>
        </p:spPr>
        <p:txBody>
          <a:bodyPr wrap="square" lIns="0" tIns="0" rIns="0" bIns="0" rtlCol="0" anchor="ctr"/>
          <a:lstStyle/>
          <a:p>
            <a:pPr indent="0" marL="0">
              <a:buNone/>
            </a:pPr>
            <a:r>
              <a:rPr lang="en-US" sz="2200" dirty="0">
                <a:solidFill>
                  <a:srgbClr val="2DD4BF"/>
                </a:solidFill>
                <a:latin typeface="Calibri" pitchFamily="34" charset="0"/>
                <a:ea typeface="Calibri" pitchFamily="34" charset="-122"/>
                <a:cs typeface="Calibri" pitchFamily="34" charset="-120"/>
              </a:rPr>
              <a:t>Clear reports. Private by design.</a:t>
            </a:r>
            <a:endParaRPr lang="en-US" sz="2200" dirty="0"/>
          </a:p>
        </p:txBody>
      </p:sp>
      <p:sp>
        <p:nvSpPr>
          <p:cNvPr id="6" name="Text 4"/>
          <p:cNvSpPr txBox="1"/>
          <p:nvPr/>
        </p:nvSpPr>
        <p:spPr>
          <a:xfrm>
            <a:off x="822960" y="3730752"/>
            <a:ext cx="7223760" cy="822960"/>
          </a:xfrm>
          <a:prstGeom prst="rect">
            <a:avLst/>
          </a:prstGeom>
          <a:noFill/>
          <a:ln/>
        </p:spPr>
        <p:txBody>
          <a:bodyPr wrap="square" lIns="0" tIns="0" rIns="0" bIns="0" rtlCol="0" anchor="ctr"/>
          <a:lstStyle/>
          <a:p>
            <a:pPr indent="0" marL="0">
              <a:lnSpc>
                <a:spcPts val="2000"/>
              </a:lnSpc>
              <a:buNone/>
            </a:pPr>
            <a:r>
              <a:rPr lang="en-US" sz="1400" dirty="0">
                <a:solidFill>
                  <a:srgbClr val="94A3B8"/>
                </a:solidFill>
                <a:latin typeface="Calibri" pitchFamily="34" charset="0"/>
                <a:ea typeface="Calibri" pitchFamily="34" charset="-122"/>
                <a:cs typeface="Calibri" pitchFamily="34" charset="-120"/>
              </a:rPr>
              <a:t>An offline medical-report explanation assistant. Every sentence links back to the line of your report that supports it — and nothing leaves your device.</a:t>
            </a:r>
            <a:endParaRPr lang="en-US" sz="1400" dirty="0"/>
          </a:p>
        </p:txBody>
      </p:sp>
      <p:sp>
        <p:nvSpPr>
          <p:cNvPr id="7" name="Shape 5"/>
          <p:cNvSpPr/>
          <p:nvPr/>
        </p:nvSpPr>
        <p:spPr>
          <a:xfrm>
            <a:off x="822960" y="4773168"/>
            <a:ext cx="402336" cy="237744"/>
          </a:xfrm>
          <a:prstGeom prst="roundRect">
            <a:avLst>
              <a:gd name="adj" fmla="val 23077"/>
            </a:avLst>
          </a:prstGeom>
          <a:solidFill>
            <a:srgbClr val="2DD4BF"/>
          </a:solidFill>
          <a:ln w="6350">
            <a:solidFill>
              <a:srgbClr val="2DD4BF"/>
            </a:solidFill>
            <a:prstDash val="solid"/>
          </a:ln>
        </p:spPr>
      </p:sp>
      <p:sp>
        <p:nvSpPr>
          <p:cNvPr id="8" name="Text 6"/>
          <p:cNvSpPr txBox="1"/>
          <p:nvPr/>
        </p:nvSpPr>
        <p:spPr>
          <a:xfrm>
            <a:off x="822960" y="4773168"/>
            <a:ext cx="402336" cy="237744"/>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S1</a:t>
            </a:r>
            <a:endParaRPr lang="en-US" sz="1000" dirty="0"/>
          </a:p>
        </p:txBody>
      </p:sp>
      <p:sp>
        <p:nvSpPr>
          <p:cNvPr id="9" name="Shape 7"/>
          <p:cNvSpPr/>
          <p:nvPr/>
        </p:nvSpPr>
        <p:spPr>
          <a:xfrm>
            <a:off x="1353312" y="4773168"/>
            <a:ext cx="402336" cy="237744"/>
          </a:xfrm>
          <a:prstGeom prst="roundRect">
            <a:avLst>
              <a:gd name="adj" fmla="val 23077"/>
            </a:avLst>
          </a:prstGeom>
          <a:solidFill>
            <a:srgbClr val="2DD4BF"/>
          </a:solidFill>
          <a:ln w="6350">
            <a:solidFill>
              <a:srgbClr val="2DD4BF"/>
            </a:solidFill>
            <a:prstDash val="solid"/>
          </a:ln>
        </p:spPr>
      </p:sp>
      <p:sp>
        <p:nvSpPr>
          <p:cNvPr id="10" name="Text 8"/>
          <p:cNvSpPr txBox="1"/>
          <p:nvPr/>
        </p:nvSpPr>
        <p:spPr>
          <a:xfrm>
            <a:off x="1353312" y="4773168"/>
            <a:ext cx="402336" cy="237744"/>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S3</a:t>
            </a:r>
            <a:endParaRPr lang="en-US" sz="1000" dirty="0"/>
          </a:p>
        </p:txBody>
      </p:sp>
      <p:sp>
        <p:nvSpPr>
          <p:cNvPr id="11" name="Shape 9"/>
          <p:cNvSpPr/>
          <p:nvPr/>
        </p:nvSpPr>
        <p:spPr>
          <a:xfrm>
            <a:off x="1883664" y="4773168"/>
            <a:ext cx="402336" cy="237744"/>
          </a:xfrm>
          <a:prstGeom prst="roundRect">
            <a:avLst>
              <a:gd name="adj" fmla="val 23077"/>
            </a:avLst>
          </a:prstGeom>
          <a:solidFill>
            <a:srgbClr val="2DD4BF"/>
          </a:solidFill>
          <a:ln w="6350">
            <a:solidFill>
              <a:srgbClr val="2DD4BF"/>
            </a:solidFill>
            <a:prstDash val="solid"/>
          </a:ln>
        </p:spPr>
      </p:sp>
      <p:sp>
        <p:nvSpPr>
          <p:cNvPr id="12" name="Text 10"/>
          <p:cNvSpPr txBox="1"/>
          <p:nvPr/>
        </p:nvSpPr>
        <p:spPr>
          <a:xfrm>
            <a:off x="1883664" y="4773168"/>
            <a:ext cx="402336" cy="237744"/>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S7</a:t>
            </a:r>
            <a:endParaRPr lang="en-US" sz="1000" dirty="0"/>
          </a:p>
        </p:txBody>
      </p:sp>
      <p:sp>
        <p:nvSpPr>
          <p:cNvPr id="13" name="Text 11"/>
          <p:cNvSpPr txBox="1"/>
          <p:nvPr/>
        </p:nvSpPr>
        <p:spPr>
          <a:xfrm>
            <a:off x="2468880" y="4773168"/>
            <a:ext cx="4023360" cy="237744"/>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source-linked by construction</a:t>
            </a:r>
            <a:endParaRPr lang="en-US" sz="1100" dirty="0"/>
          </a:p>
        </p:txBody>
      </p:sp>
      <p:sp>
        <p:nvSpPr>
          <p:cNvPr id="14" name="Text 12"/>
          <p:cNvSpPr txBox="1"/>
          <p:nvPr/>
        </p:nvSpPr>
        <p:spPr>
          <a:xfrm>
            <a:off x="822960" y="5989320"/>
            <a:ext cx="10515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Research prototype — explains report content; does not diagnose or recommend treatment.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58368" y="457200"/>
            <a:ext cx="1088136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58368" y="804672"/>
            <a:ext cx="10881360" cy="658368"/>
          </a:xfrm>
          <a:prstGeom prst="rect">
            <a:avLst/>
          </a:prstGeom>
          <a:noFill/>
          <a:ln/>
        </p:spPr>
        <p:txBody>
          <a:bodyPr wrap="square" lIns="0" tIns="0" rIns="0" bIns="0" rtlCol="0" anchor="ctr"/>
          <a:lstStyle/>
          <a:p>
            <a:pPr indent="0" marL="0">
              <a:buNone/>
            </a:pPr>
            <a:r>
              <a:rPr lang="en-US" sz="3400" b="1" dirty="0">
                <a:solidFill>
                  <a:srgbClr val="16324F"/>
                </a:solidFill>
                <a:latin typeface="Cambria" pitchFamily="34" charset="0"/>
                <a:ea typeface="Cambria" pitchFamily="34" charset="-122"/>
                <a:cs typeface="Cambria" pitchFamily="34" charset="-120"/>
              </a:rPr>
              <a:t>A patient holding a lab report has two bad options</a:t>
            </a:r>
            <a:endParaRPr lang="en-US" sz="3400" dirty="0"/>
          </a:p>
        </p:txBody>
      </p:sp>
      <p:sp>
        <p:nvSpPr>
          <p:cNvPr id="4" name="Shape 2"/>
          <p:cNvSpPr/>
          <p:nvPr/>
        </p:nvSpPr>
        <p:spPr>
          <a:xfrm>
            <a:off x="658368" y="1965960"/>
            <a:ext cx="3401568" cy="2834640"/>
          </a:xfrm>
          <a:prstGeom prst="roundRect">
            <a:avLst>
              <a:gd name="adj" fmla="val 1290"/>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5" name="Shape 3"/>
          <p:cNvSpPr/>
          <p:nvPr/>
        </p:nvSpPr>
        <p:spPr>
          <a:xfrm>
            <a:off x="914400" y="2240280"/>
            <a:ext cx="475488" cy="475488"/>
          </a:xfrm>
          <a:prstGeom prst="ellipse">
            <a:avLst/>
          </a:prstGeom>
          <a:solidFill>
            <a:srgbClr val="D97706"/>
          </a:solidFill>
          <a:ln w="12700">
            <a:solidFill>
              <a:srgbClr val="D97706"/>
            </a:solidFill>
            <a:prstDash val="solid"/>
          </a:ln>
        </p:spPr>
      </p:sp>
      <p:sp>
        <p:nvSpPr>
          <p:cNvPr id="6" name="Text 4"/>
          <p:cNvSpPr txBox="1"/>
          <p:nvPr/>
        </p:nvSpPr>
        <p:spPr>
          <a:xfrm>
            <a:off x="914400" y="2240280"/>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7" name="Text 5"/>
          <p:cNvSpPr txBox="1"/>
          <p:nvPr/>
        </p:nvSpPr>
        <p:spPr>
          <a:xfrm>
            <a:off x="914400" y="2907792"/>
            <a:ext cx="2889504" cy="329184"/>
          </a:xfrm>
          <a:prstGeom prst="rect">
            <a:avLst/>
          </a:prstGeom>
          <a:noFill/>
          <a:ln/>
        </p:spPr>
        <p:txBody>
          <a:bodyPr wrap="square" lIns="0" tIns="0" rIns="0" bIns="0" rtlCol="0" anchor="ctr"/>
          <a:lstStyle/>
          <a:p>
            <a:pPr indent="0" marL="0">
              <a:buNone/>
            </a:pPr>
            <a:r>
              <a:rPr lang="en-US" sz="1800" b="1" dirty="0">
                <a:solidFill>
                  <a:srgbClr val="16324F"/>
                </a:solidFill>
                <a:latin typeface="Calibri" pitchFamily="34" charset="0"/>
                <a:ea typeface="Calibri" pitchFamily="34" charset="-122"/>
                <a:cs typeface="Calibri" pitchFamily="34" charset="-120"/>
              </a:rPr>
              <a:t>Search the web</a:t>
            </a:r>
            <a:endParaRPr lang="en-US" sz="1800" dirty="0"/>
          </a:p>
        </p:txBody>
      </p:sp>
      <p:sp>
        <p:nvSpPr>
          <p:cNvPr id="8" name="Text 6"/>
          <p:cNvSpPr txBox="1"/>
          <p:nvPr/>
        </p:nvSpPr>
        <p:spPr>
          <a:xfrm>
            <a:off x="914400" y="3310128"/>
            <a:ext cx="2889504" cy="1280160"/>
          </a:xfrm>
          <a:prstGeom prst="rect">
            <a:avLst/>
          </a:prstGeom>
          <a:noFill/>
          <a:ln/>
        </p:spPr>
        <p:txBody>
          <a:bodyPr wrap="square" lIns="0" tIns="0" rIns="0" bIns="0" rtlCol="0" anchor="ctr"/>
          <a:lstStyle/>
          <a:p>
            <a:pPr indent="0" marL="0">
              <a:lnSpc>
                <a:spcPts val="1900"/>
              </a:lnSpc>
              <a:buNone/>
            </a:pPr>
            <a:r>
              <a:rPr lang="en-US" sz="1300" dirty="0">
                <a:solidFill>
                  <a:srgbClr val="64748B"/>
                </a:solidFill>
                <a:latin typeface="Calibri" pitchFamily="34" charset="0"/>
                <a:ea typeface="Calibri" pitchFamily="34" charset="-122"/>
                <a:cs typeface="Calibri" pitchFamily="34" charset="-120"/>
              </a:rPr>
              <a:t>Results strip away the context of this report — this value, this range, this lab. The worst-case reading wins the click.</a:t>
            </a:r>
            <a:endParaRPr lang="en-US" sz="1300" dirty="0"/>
          </a:p>
        </p:txBody>
      </p:sp>
      <p:sp>
        <p:nvSpPr>
          <p:cNvPr id="9" name="Shape 7"/>
          <p:cNvSpPr/>
          <p:nvPr/>
        </p:nvSpPr>
        <p:spPr>
          <a:xfrm>
            <a:off x="4361688" y="1965960"/>
            <a:ext cx="3401568" cy="2834640"/>
          </a:xfrm>
          <a:prstGeom prst="roundRect">
            <a:avLst>
              <a:gd name="adj" fmla="val 1290"/>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10" name="Shape 8"/>
          <p:cNvSpPr/>
          <p:nvPr/>
        </p:nvSpPr>
        <p:spPr>
          <a:xfrm>
            <a:off x="4617720" y="2240280"/>
            <a:ext cx="475488" cy="475488"/>
          </a:xfrm>
          <a:prstGeom prst="ellipse">
            <a:avLst/>
          </a:prstGeom>
          <a:solidFill>
            <a:srgbClr val="D97706"/>
          </a:solidFill>
          <a:ln w="12700">
            <a:solidFill>
              <a:srgbClr val="D97706"/>
            </a:solidFill>
            <a:prstDash val="solid"/>
          </a:ln>
        </p:spPr>
      </p:sp>
      <p:sp>
        <p:nvSpPr>
          <p:cNvPr id="11" name="Text 9"/>
          <p:cNvSpPr txBox="1"/>
          <p:nvPr/>
        </p:nvSpPr>
        <p:spPr>
          <a:xfrm>
            <a:off x="4617720" y="2240280"/>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12" name="Text 10"/>
          <p:cNvSpPr txBox="1"/>
          <p:nvPr/>
        </p:nvSpPr>
        <p:spPr>
          <a:xfrm>
            <a:off x="4617720" y="2907792"/>
            <a:ext cx="2889504" cy="329184"/>
          </a:xfrm>
          <a:prstGeom prst="rect">
            <a:avLst/>
          </a:prstGeom>
          <a:noFill/>
          <a:ln/>
        </p:spPr>
        <p:txBody>
          <a:bodyPr wrap="square" lIns="0" tIns="0" rIns="0" bIns="0" rtlCol="0" anchor="ctr"/>
          <a:lstStyle/>
          <a:p>
            <a:pPr indent="0" marL="0">
              <a:buNone/>
            </a:pPr>
            <a:r>
              <a:rPr lang="en-US" sz="1800" b="1" dirty="0">
                <a:solidFill>
                  <a:srgbClr val="16324F"/>
                </a:solidFill>
                <a:latin typeface="Calibri" pitchFamily="34" charset="0"/>
                <a:ea typeface="Calibri" pitchFamily="34" charset="-122"/>
                <a:cs typeface="Calibri" pitchFamily="34" charset="-120"/>
              </a:rPr>
              <a:t>Upload to a cloud AI</a:t>
            </a:r>
            <a:endParaRPr lang="en-US" sz="1800" dirty="0"/>
          </a:p>
        </p:txBody>
      </p:sp>
      <p:sp>
        <p:nvSpPr>
          <p:cNvPr id="13" name="Text 11"/>
          <p:cNvSpPr txBox="1"/>
          <p:nvPr/>
        </p:nvSpPr>
        <p:spPr>
          <a:xfrm>
            <a:off x="4617720" y="3310128"/>
            <a:ext cx="2889504" cy="1280160"/>
          </a:xfrm>
          <a:prstGeom prst="rect">
            <a:avLst/>
          </a:prstGeom>
          <a:noFill/>
          <a:ln/>
        </p:spPr>
        <p:txBody>
          <a:bodyPr wrap="square" lIns="0" tIns="0" rIns="0" bIns="0" rtlCol="0" anchor="ctr"/>
          <a:lstStyle/>
          <a:p>
            <a:pPr indent="0" marL="0">
              <a:lnSpc>
                <a:spcPts val="1900"/>
              </a:lnSpc>
              <a:buNone/>
            </a:pPr>
            <a:r>
              <a:rPr lang="en-US" sz="1300" dirty="0">
                <a:solidFill>
                  <a:srgbClr val="64748B"/>
                </a:solidFill>
                <a:latin typeface="Calibri" pitchFamily="34" charset="0"/>
                <a:ea typeface="Calibri" pitchFamily="34" charset="-122"/>
                <a:cs typeface="Calibri" pitchFamily="34" charset="-120"/>
              </a:rPr>
              <a:t>The most sensitive document a person owns leaves their device, gets cached, and may be retained or indexed.</a:t>
            </a:r>
            <a:endParaRPr lang="en-US" sz="1300" dirty="0"/>
          </a:p>
        </p:txBody>
      </p:sp>
      <p:sp>
        <p:nvSpPr>
          <p:cNvPr id="14" name="Shape 12"/>
          <p:cNvSpPr/>
          <p:nvPr/>
        </p:nvSpPr>
        <p:spPr>
          <a:xfrm>
            <a:off x="8138160" y="1965960"/>
            <a:ext cx="3401568" cy="2834640"/>
          </a:xfrm>
          <a:prstGeom prst="roundRect">
            <a:avLst>
              <a:gd name="adj" fmla="val 1290"/>
            </a:avLst>
          </a:prstGeom>
          <a:solidFill>
            <a:srgbClr val="16324F"/>
          </a:solidFill>
          <a:ln w="12700">
            <a:solidFill>
              <a:srgbClr val="16324F"/>
            </a:solidFill>
            <a:prstDash val="solid"/>
          </a:ln>
          <a:effectLst>
            <a:outerShdw sx="100000" sy="100000" kx="0" ky="0" algn="bl" rotWithShape="0" blurRad="152400" dist="25400" dir="5400000">
              <a:srgbClr val="0A1622">
                <a:alpha val="18000"/>
              </a:srgbClr>
            </a:outerShdw>
          </a:effectLst>
        </p:spPr>
      </p:sp>
      <p:sp>
        <p:nvSpPr>
          <p:cNvPr id="15" name="Text 13"/>
          <p:cNvSpPr txBox="1"/>
          <p:nvPr/>
        </p:nvSpPr>
        <p:spPr>
          <a:xfrm>
            <a:off x="8394192" y="2240280"/>
            <a:ext cx="2926080" cy="868680"/>
          </a:xfrm>
          <a:prstGeom prst="rect">
            <a:avLst/>
          </a:prstGeom>
          <a:noFill/>
          <a:ln/>
        </p:spPr>
        <p:txBody>
          <a:bodyPr wrap="square" lIns="0" tIns="0" rIns="0" bIns="0" rtlCol="0" anchor="ctr"/>
          <a:lstStyle/>
          <a:p>
            <a:pPr indent="0" marL="0">
              <a:lnSpc>
                <a:spcPts val="2000"/>
              </a:lnSpc>
              <a:buNone/>
            </a:pPr>
            <a:r>
              <a:rPr lang="en-US" sz="1450" dirty="0">
                <a:solidFill>
                  <a:srgbClr val="94A3B8"/>
                </a:solidFill>
                <a:latin typeface="Calibri" pitchFamily="34" charset="0"/>
                <a:ea typeface="Calibri" pitchFamily="34" charset="-122"/>
                <a:cs typeface="Calibri" pitchFamily="34" charset="-120"/>
              </a:rPr>
              <a:t>Neither option can do the one thing that matters:</a:t>
            </a:r>
            <a:endParaRPr lang="en-US" sz="1450" dirty="0"/>
          </a:p>
        </p:txBody>
      </p:sp>
      <p:sp>
        <p:nvSpPr>
          <p:cNvPr id="16" name="Text 14"/>
          <p:cNvSpPr txBox="1"/>
          <p:nvPr/>
        </p:nvSpPr>
        <p:spPr>
          <a:xfrm>
            <a:off x="8394192" y="3200400"/>
            <a:ext cx="2926080" cy="420624"/>
          </a:xfrm>
          <a:prstGeom prst="rect">
            <a:avLst/>
          </a:prstGeom>
          <a:noFill/>
          <a:ln/>
        </p:spPr>
        <p:txBody>
          <a:bodyPr wrap="square" lIns="0" tIns="0" rIns="0" bIns="0" rtlCol="0" anchor="ctr"/>
          <a:lstStyle/>
          <a:p>
            <a:pPr indent="0" marL="0">
              <a:buNone/>
            </a:pPr>
            <a:r>
              <a:rPr lang="en-US" sz="2200" b="1" dirty="0">
                <a:solidFill>
                  <a:srgbClr val="2DD4BF"/>
                </a:solidFill>
                <a:latin typeface="Cambria" pitchFamily="34" charset="0"/>
                <a:ea typeface="Cambria" pitchFamily="34" charset="-122"/>
                <a:cs typeface="Cambria" pitchFamily="34" charset="-120"/>
              </a:rPr>
              <a:t>show its source</a:t>
            </a:r>
            <a:endParaRPr lang="en-US" sz="2200" dirty="0"/>
          </a:p>
        </p:txBody>
      </p:sp>
      <p:sp>
        <p:nvSpPr>
          <p:cNvPr id="17" name="Text 15"/>
          <p:cNvSpPr txBox="1"/>
          <p:nvPr/>
        </p:nvSpPr>
        <p:spPr>
          <a:xfrm>
            <a:off x="8394192" y="3730752"/>
            <a:ext cx="2926080" cy="640080"/>
          </a:xfrm>
          <a:prstGeom prst="rect">
            <a:avLst/>
          </a:prstGeom>
          <a:noFill/>
          <a:ln/>
        </p:spPr>
        <p:txBody>
          <a:bodyPr wrap="square" lIns="0" tIns="0" rIns="0" bIns="0" rtlCol="0" anchor="ctr"/>
          <a:lstStyle/>
          <a:p>
            <a:pPr indent="0" marL="0">
              <a:lnSpc>
                <a:spcPts val="1700"/>
              </a:lnSpc>
              <a:buNone/>
            </a:pPr>
            <a:r>
              <a:rPr lang="en-US" sz="1250" dirty="0">
                <a:solidFill>
                  <a:srgbClr val="94A3B8"/>
                </a:solidFill>
                <a:latin typeface="Calibri" pitchFamily="34" charset="0"/>
                <a:ea typeface="Calibri" pitchFamily="34" charset="-122"/>
                <a:cs typeface="Calibri" pitchFamily="34" charset="-120"/>
              </a:rPr>
              <a:t>You cannot check an answer you cannot trace.</a:t>
            </a:r>
            <a:endParaRPr lang="en-US" sz="1250" dirty="0"/>
          </a:p>
        </p:txBody>
      </p:sp>
      <p:sp>
        <p:nvSpPr>
          <p:cNvPr id="18" name="Text 16"/>
          <p:cNvSpPr txBox="1"/>
          <p:nvPr/>
        </p:nvSpPr>
        <p:spPr>
          <a:xfrm>
            <a:off x="658368" y="5257800"/>
            <a:ext cx="10881360" cy="457200"/>
          </a:xfrm>
          <a:prstGeom prst="rect">
            <a:avLst/>
          </a:prstGeom>
          <a:noFill/>
          <a:ln/>
        </p:spPr>
        <p:txBody>
          <a:bodyPr wrap="square" lIns="0" tIns="0" rIns="0" bIns="0" rtlCol="0" anchor="ctr"/>
          <a:lstStyle/>
          <a:p>
            <a:pPr indent="0" marL="0">
              <a:buNone/>
            </a:pPr>
            <a:r>
              <a:rPr lang="en-US" sz="1500" i="1" dirty="0">
                <a:solidFill>
                  <a:srgbClr val="16324F"/>
                </a:solidFill>
                <a:latin typeface="Calibri" pitchFamily="34" charset="0"/>
                <a:ea typeface="Calibri" pitchFamily="34" charset="-122"/>
                <a:cs typeface="Calibri" pitchFamily="34" charset="-120"/>
              </a:rPr>
              <a:t>The result: patients arrive at appointments anxious about the wrong things, and without the questions that would actually help them.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58368" y="457200"/>
            <a:ext cx="1088136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THE PRODUCT</a:t>
            </a:r>
            <a:endParaRPr lang="en-US" sz="1200" dirty="0"/>
          </a:p>
        </p:txBody>
      </p:sp>
      <p:sp>
        <p:nvSpPr>
          <p:cNvPr id="3" name="Text 1"/>
          <p:cNvSpPr txBox="1"/>
          <p:nvPr/>
        </p:nvSpPr>
        <p:spPr>
          <a:xfrm>
            <a:off x="658368" y="804672"/>
            <a:ext cx="10881360" cy="658368"/>
          </a:xfrm>
          <a:prstGeom prst="rect">
            <a:avLst/>
          </a:prstGeom>
          <a:noFill/>
          <a:ln/>
        </p:spPr>
        <p:txBody>
          <a:bodyPr wrap="square" lIns="0" tIns="0" rIns="0" bIns="0" rtlCol="0" anchor="ctr"/>
          <a:lstStyle/>
          <a:p>
            <a:pPr indent="0" marL="0">
              <a:buNone/>
            </a:pPr>
            <a:r>
              <a:rPr lang="en-US" sz="3400" b="1" dirty="0">
                <a:solidFill>
                  <a:srgbClr val="16324F"/>
                </a:solidFill>
                <a:latin typeface="Cambria" pitchFamily="34" charset="0"/>
                <a:ea typeface="Cambria" pitchFamily="34" charset="-122"/>
                <a:cs typeface="Cambria" pitchFamily="34" charset="-120"/>
              </a:rPr>
              <a:t>One screen. Report on the left, plain language on the right.</a:t>
            </a:r>
            <a:endParaRPr lang="en-US" sz="3400" dirty="0"/>
          </a:p>
        </p:txBody>
      </p:sp>
      <p:sp>
        <p:nvSpPr>
          <p:cNvPr id="4" name="Shape 2"/>
          <p:cNvSpPr/>
          <p:nvPr/>
        </p:nvSpPr>
        <p:spPr>
          <a:xfrm>
            <a:off x="658368" y="2057400"/>
            <a:ext cx="5029200" cy="3291840"/>
          </a:xfrm>
          <a:prstGeom prst="roundRect">
            <a:avLst>
              <a:gd name="adj" fmla="val 1111"/>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5" name="Text 3"/>
          <p:cNvSpPr txBox="1"/>
          <p:nvPr/>
        </p:nvSpPr>
        <p:spPr>
          <a:xfrm>
            <a:off x="914400" y="2212848"/>
            <a:ext cx="2743200"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Original report</a:t>
            </a:r>
            <a:endParaRPr lang="en-US" sz="1200" dirty="0"/>
          </a:p>
        </p:txBody>
      </p:sp>
      <p:sp>
        <p:nvSpPr>
          <p:cNvPr id="6" name="Shape 4"/>
          <p:cNvSpPr/>
          <p:nvPr/>
        </p:nvSpPr>
        <p:spPr>
          <a:xfrm>
            <a:off x="914400" y="2606040"/>
            <a:ext cx="402336" cy="237744"/>
          </a:xfrm>
          <a:prstGeom prst="roundRect">
            <a:avLst>
              <a:gd name="adj" fmla="val 23077"/>
            </a:avLst>
          </a:prstGeom>
          <a:solidFill>
            <a:srgbClr val="0F766E"/>
          </a:solidFill>
          <a:ln w="6350">
            <a:solidFill>
              <a:srgbClr val="0F766E"/>
            </a:solidFill>
            <a:prstDash val="solid"/>
          </a:ln>
        </p:spPr>
      </p:sp>
      <p:sp>
        <p:nvSpPr>
          <p:cNvPr id="7" name="Text 5"/>
          <p:cNvSpPr txBox="1"/>
          <p:nvPr/>
        </p:nvSpPr>
        <p:spPr>
          <a:xfrm>
            <a:off x="914400" y="2606040"/>
            <a:ext cx="402336"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S3</a:t>
            </a:r>
            <a:endParaRPr lang="en-US" sz="1000" dirty="0"/>
          </a:p>
        </p:txBody>
      </p:sp>
      <p:sp>
        <p:nvSpPr>
          <p:cNvPr id="8" name="Shape 6"/>
          <p:cNvSpPr/>
          <p:nvPr/>
        </p:nvSpPr>
        <p:spPr>
          <a:xfrm>
            <a:off x="1426464" y="2606040"/>
            <a:ext cx="4023360" cy="237744"/>
          </a:xfrm>
          <a:prstGeom prst="roundRect">
            <a:avLst>
              <a:gd name="adj" fmla="val 11538"/>
            </a:avLst>
          </a:prstGeom>
          <a:solidFill>
            <a:srgbClr val="CCFBF1"/>
          </a:solidFill>
          <a:ln w="12700">
            <a:solidFill>
              <a:srgbClr val="CCFBF1"/>
            </a:solidFill>
            <a:prstDash val="solid"/>
          </a:ln>
        </p:spPr>
      </p:sp>
      <p:sp>
        <p:nvSpPr>
          <p:cNvPr id="9" name="Text 7"/>
          <p:cNvSpPr txBox="1"/>
          <p:nvPr/>
        </p:nvSpPr>
        <p:spPr>
          <a:xfrm>
            <a:off x="1481328" y="2606040"/>
            <a:ext cx="3931920" cy="237744"/>
          </a:xfrm>
          <a:prstGeom prst="rect">
            <a:avLst/>
          </a:prstGeom>
          <a:noFill/>
          <a:ln/>
        </p:spPr>
        <p:txBody>
          <a:bodyPr wrap="square" lIns="0" tIns="0" rIns="0" bIns="0" rtlCol="0" anchor="ctr"/>
          <a:lstStyle/>
          <a:p>
            <a:pPr indent="0" marL="0">
              <a:buNone/>
            </a:pPr>
            <a:r>
              <a:rPr lang="en-US" sz="1000" dirty="0">
                <a:solidFill>
                  <a:srgbClr val="16324F"/>
                </a:solidFill>
                <a:latin typeface="Courier New" pitchFamily="34" charset="0"/>
                <a:ea typeface="Courier New" pitchFamily="34" charset="-122"/>
                <a:cs typeface="Courier New" pitchFamily="34" charset="-120"/>
              </a:rPr>
              <a:t>Glucose 108 mg/dL 70-99 High</a:t>
            </a:r>
            <a:endParaRPr lang="en-US" sz="1000" dirty="0"/>
          </a:p>
        </p:txBody>
      </p:sp>
      <p:sp>
        <p:nvSpPr>
          <p:cNvPr id="10" name="Shape 8"/>
          <p:cNvSpPr/>
          <p:nvPr/>
        </p:nvSpPr>
        <p:spPr>
          <a:xfrm>
            <a:off x="914400" y="3026664"/>
            <a:ext cx="402336" cy="237744"/>
          </a:xfrm>
          <a:prstGeom prst="roundRect">
            <a:avLst>
              <a:gd name="adj" fmla="val 23077"/>
            </a:avLst>
          </a:prstGeom>
          <a:solidFill>
            <a:srgbClr val="0F766E"/>
          </a:solidFill>
          <a:ln w="6350">
            <a:solidFill>
              <a:srgbClr val="0F766E"/>
            </a:solidFill>
            <a:prstDash val="solid"/>
          </a:ln>
        </p:spPr>
      </p:sp>
      <p:sp>
        <p:nvSpPr>
          <p:cNvPr id="11" name="Text 9"/>
          <p:cNvSpPr txBox="1"/>
          <p:nvPr/>
        </p:nvSpPr>
        <p:spPr>
          <a:xfrm>
            <a:off x="914400" y="3026664"/>
            <a:ext cx="402336"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S4</a:t>
            </a:r>
            <a:endParaRPr lang="en-US" sz="1000" dirty="0"/>
          </a:p>
        </p:txBody>
      </p:sp>
      <p:sp>
        <p:nvSpPr>
          <p:cNvPr id="12" name="Shape 10"/>
          <p:cNvSpPr/>
          <p:nvPr/>
        </p:nvSpPr>
        <p:spPr>
          <a:xfrm>
            <a:off x="1426464" y="3026664"/>
            <a:ext cx="4023360" cy="237744"/>
          </a:xfrm>
          <a:prstGeom prst="roundRect">
            <a:avLst>
              <a:gd name="adj" fmla="val 11538"/>
            </a:avLst>
          </a:prstGeom>
          <a:solidFill>
            <a:srgbClr val="CCFBF1"/>
          </a:solidFill>
          <a:ln w="12700">
            <a:solidFill>
              <a:srgbClr val="CCFBF1"/>
            </a:solidFill>
            <a:prstDash val="solid"/>
          </a:ln>
        </p:spPr>
      </p:sp>
      <p:sp>
        <p:nvSpPr>
          <p:cNvPr id="13" name="Text 11"/>
          <p:cNvSpPr txBox="1"/>
          <p:nvPr/>
        </p:nvSpPr>
        <p:spPr>
          <a:xfrm>
            <a:off x="1481328" y="3026664"/>
            <a:ext cx="3931920" cy="237744"/>
          </a:xfrm>
          <a:prstGeom prst="rect">
            <a:avLst/>
          </a:prstGeom>
          <a:noFill/>
          <a:ln/>
        </p:spPr>
        <p:txBody>
          <a:bodyPr wrap="square" lIns="0" tIns="0" rIns="0" bIns="0" rtlCol="0" anchor="ctr"/>
          <a:lstStyle/>
          <a:p>
            <a:pPr indent="0" marL="0">
              <a:buNone/>
            </a:pPr>
            <a:r>
              <a:rPr lang="en-US" sz="1000" dirty="0">
                <a:solidFill>
                  <a:srgbClr val="16324F"/>
                </a:solidFill>
                <a:latin typeface="Courier New" pitchFamily="34" charset="0"/>
                <a:ea typeface="Courier New" pitchFamily="34" charset="-122"/>
                <a:cs typeface="Courier New" pitchFamily="34" charset="-120"/>
              </a:rPr>
              <a:t>Sodium 140 mmol/L 135-145</a:t>
            </a:r>
            <a:endParaRPr lang="en-US" sz="1000" dirty="0"/>
          </a:p>
        </p:txBody>
      </p:sp>
      <p:sp>
        <p:nvSpPr>
          <p:cNvPr id="14" name="Shape 12"/>
          <p:cNvSpPr/>
          <p:nvPr/>
        </p:nvSpPr>
        <p:spPr>
          <a:xfrm>
            <a:off x="914400" y="3447288"/>
            <a:ext cx="402336" cy="237744"/>
          </a:xfrm>
          <a:prstGeom prst="roundRect">
            <a:avLst>
              <a:gd name="adj" fmla="val 23077"/>
            </a:avLst>
          </a:prstGeom>
          <a:solidFill>
            <a:srgbClr val="0F766E"/>
          </a:solidFill>
          <a:ln w="6350">
            <a:solidFill>
              <a:srgbClr val="0F766E"/>
            </a:solidFill>
            <a:prstDash val="solid"/>
          </a:ln>
        </p:spPr>
      </p:sp>
      <p:sp>
        <p:nvSpPr>
          <p:cNvPr id="15" name="Text 13"/>
          <p:cNvSpPr txBox="1"/>
          <p:nvPr/>
        </p:nvSpPr>
        <p:spPr>
          <a:xfrm>
            <a:off x="914400" y="3447288"/>
            <a:ext cx="402336"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S5</a:t>
            </a:r>
            <a:endParaRPr lang="en-US" sz="1000" dirty="0"/>
          </a:p>
        </p:txBody>
      </p:sp>
      <p:sp>
        <p:nvSpPr>
          <p:cNvPr id="16" name="Shape 14"/>
          <p:cNvSpPr/>
          <p:nvPr/>
        </p:nvSpPr>
        <p:spPr>
          <a:xfrm>
            <a:off x="1426464" y="3447288"/>
            <a:ext cx="4023360" cy="237744"/>
          </a:xfrm>
          <a:prstGeom prst="roundRect">
            <a:avLst>
              <a:gd name="adj" fmla="val 11538"/>
            </a:avLst>
          </a:prstGeom>
          <a:solidFill>
            <a:srgbClr val="CCFBF1"/>
          </a:solidFill>
          <a:ln w="12700">
            <a:solidFill>
              <a:srgbClr val="CCFBF1"/>
            </a:solidFill>
            <a:prstDash val="solid"/>
          </a:ln>
        </p:spPr>
      </p:sp>
      <p:sp>
        <p:nvSpPr>
          <p:cNvPr id="17" name="Text 15"/>
          <p:cNvSpPr txBox="1"/>
          <p:nvPr/>
        </p:nvSpPr>
        <p:spPr>
          <a:xfrm>
            <a:off x="1481328" y="3447288"/>
            <a:ext cx="3931920" cy="237744"/>
          </a:xfrm>
          <a:prstGeom prst="rect">
            <a:avLst/>
          </a:prstGeom>
          <a:noFill/>
          <a:ln/>
        </p:spPr>
        <p:txBody>
          <a:bodyPr wrap="square" lIns="0" tIns="0" rIns="0" bIns="0" rtlCol="0" anchor="ctr"/>
          <a:lstStyle/>
          <a:p>
            <a:pPr indent="0" marL="0">
              <a:buNone/>
            </a:pPr>
            <a:r>
              <a:rPr lang="en-US" sz="1000" dirty="0">
                <a:solidFill>
                  <a:srgbClr val="16324F"/>
                </a:solidFill>
                <a:latin typeface="Courier New" pitchFamily="34" charset="0"/>
                <a:ea typeface="Courier New" pitchFamily="34" charset="-122"/>
                <a:cs typeface="Courier New" pitchFamily="34" charset="-120"/>
              </a:rPr>
              <a:t>Potassium 3.3 mmol/L 3.5-5.1 L</a:t>
            </a:r>
            <a:endParaRPr lang="en-US" sz="1000" dirty="0"/>
          </a:p>
        </p:txBody>
      </p:sp>
      <p:sp>
        <p:nvSpPr>
          <p:cNvPr id="18" name="Shape 16"/>
          <p:cNvSpPr/>
          <p:nvPr/>
        </p:nvSpPr>
        <p:spPr>
          <a:xfrm>
            <a:off x="914400" y="3867912"/>
            <a:ext cx="402336" cy="237744"/>
          </a:xfrm>
          <a:prstGeom prst="roundRect">
            <a:avLst>
              <a:gd name="adj" fmla="val 23077"/>
            </a:avLst>
          </a:prstGeom>
          <a:solidFill>
            <a:srgbClr val="0F766E"/>
          </a:solidFill>
          <a:ln w="6350">
            <a:solidFill>
              <a:srgbClr val="0F766E"/>
            </a:solidFill>
            <a:prstDash val="solid"/>
          </a:ln>
        </p:spPr>
      </p:sp>
      <p:sp>
        <p:nvSpPr>
          <p:cNvPr id="19" name="Text 17"/>
          <p:cNvSpPr txBox="1"/>
          <p:nvPr/>
        </p:nvSpPr>
        <p:spPr>
          <a:xfrm>
            <a:off x="914400" y="3867912"/>
            <a:ext cx="402336"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S6</a:t>
            </a:r>
            <a:endParaRPr lang="en-US" sz="1000" dirty="0"/>
          </a:p>
        </p:txBody>
      </p:sp>
      <p:sp>
        <p:nvSpPr>
          <p:cNvPr id="20" name="Shape 18"/>
          <p:cNvSpPr/>
          <p:nvPr/>
        </p:nvSpPr>
        <p:spPr>
          <a:xfrm>
            <a:off x="1426464" y="3867912"/>
            <a:ext cx="4023360" cy="237744"/>
          </a:xfrm>
          <a:prstGeom prst="roundRect">
            <a:avLst>
              <a:gd name="adj" fmla="val 11538"/>
            </a:avLst>
          </a:prstGeom>
          <a:solidFill>
            <a:srgbClr val="CCFBF1"/>
          </a:solidFill>
          <a:ln w="12700">
            <a:solidFill>
              <a:srgbClr val="CCFBF1"/>
            </a:solidFill>
            <a:prstDash val="solid"/>
          </a:ln>
        </p:spPr>
      </p:sp>
      <p:sp>
        <p:nvSpPr>
          <p:cNvPr id="21" name="Text 19"/>
          <p:cNvSpPr txBox="1"/>
          <p:nvPr/>
        </p:nvSpPr>
        <p:spPr>
          <a:xfrm>
            <a:off x="1481328" y="3867912"/>
            <a:ext cx="3931920" cy="237744"/>
          </a:xfrm>
          <a:prstGeom prst="rect">
            <a:avLst/>
          </a:prstGeom>
          <a:noFill/>
          <a:ln/>
        </p:spPr>
        <p:txBody>
          <a:bodyPr wrap="square" lIns="0" tIns="0" rIns="0" bIns="0" rtlCol="0" anchor="ctr"/>
          <a:lstStyle/>
          <a:p>
            <a:pPr indent="0" marL="0">
              <a:buNone/>
            </a:pPr>
            <a:r>
              <a:rPr lang="en-US" sz="1000" dirty="0">
                <a:solidFill>
                  <a:srgbClr val="16324F"/>
                </a:solidFill>
                <a:latin typeface="Courier New" pitchFamily="34" charset="0"/>
                <a:ea typeface="Courier New" pitchFamily="34" charset="-122"/>
                <a:cs typeface="Courier New" pitchFamily="34" charset="-120"/>
              </a:rPr>
              <a:t>Chloride 102 mmol/L 98-107</a:t>
            </a:r>
            <a:endParaRPr lang="en-US" sz="1000" dirty="0"/>
          </a:p>
        </p:txBody>
      </p:sp>
      <p:sp>
        <p:nvSpPr>
          <p:cNvPr id="22" name="Text 20"/>
          <p:cNvSpPr txBox="1"/>
          <p:nvPr/>
        </p:nvSpPr>
        <p:spPr>
          <a:xfrm>
            <a:off x="914400" y="4526280"/>
            <a:ext cx="4535424" cy="548640"/>
          </a:xfrm>
          <a:prstGeom prst="rect">
            <a:avLst/>
          </a:prstGeom>
          <a:noFill/>
          <a:ln/>
        </p:spPr>
        <p:txBody>
          <a:bodyPr wrap="square" lIns="0" tIns="0" rIns="0" bIns="0" rtlCol="0" anchor="ctr"/>
          <a:lstStyle/>
          <a:p>
            <a:pPr indent="0" marL="0">
              <a:lnSpc>
                <a:spcPts val="1400"/>
              </a:lnSpc>
              <a:buNone/>
            </a:pPr>
            <a:r>
              <a:rPr lang="en-US" sz="1050" i="1" dirty="0">
                <a:solidFill>
                  <a:srgbClr val="64748B"/>
                </a:solidFill>
                <a:latin typeface="Calibri" pitchFamily="34" charset="0"/>
                <a:ea typeface="Calibri" pitchFamily="34" charset="-122"/>
                <a:cs typeface="Calibri" pitchFamily="34" charset="-120"/>
              </a:rPr>
              <a:t>Highlighted = read as a result. Anything PlainMed could not read is shown too, never dropped.</a:t>
            </a:r>
            <a:endParaRPr lang="en-US" sz="1050" dirty="0"/>
          </a:p>
        </p:txBody>
      </p:sp>
      <p:sp>
        <p:nvSpPr>
          <p:cNvPr id="23" name="Shape 21"/>
          <p:cNvSpPr/>
          <p:nvPr/>
        </p:nvSpPr>
        <p:spPr>
          <a:xfrm>
            <a:off x="5989320" y="2057400"/>
            <a:ext cx="5550408" cy="3291840"/>
          </a:xfrm>
          <a:prstGeom prst="roundRect">
            <a:avLst>
              <a:gd name="adj" fmla="val 1111"/>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24" name="Text 22"/>
          <p:cNvSpPr txBox="1"/>
          <p:nvPr/>
        </p:nvSpPr>
        <p:spPr>
          <a:xfrm>
            <a:off x="6245352" y="2212848"/>
            <a:ext cx="3657600"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Plain-language explanation</a:t>
            </a:r>
            <a:endParaRPr lang="en-US" sz="1200" dirty="0"/>
          </a:p>
        </p:txBody>
      </p:sp>
      <p:sp>
        <p:nvSpPr>
          <p:cNvPr id="25" name="Shape 23"/>
          <p:cNvSpPr/>
          <p:nvPr/>
        </p:nvSpPr>
        <p:spPr>
          <a:xfrm>
            <a:off x="6245352" y="2578608"/>
            <a:ext cx="5029200" cy="1078992"/>
          </a:xfrm>
          <a:prstGeom prst="roundRect">
            <a:avLst>
              <a:gd name="adj" fmla="val 3390"/>
            </a:avLst>
          </a:prstGeom>
          <a:solidFill>
            <a:srgbClr val="F0FDFA"/>
          </a:solidFill>
          <a:ln w="12700">
            <a:solidFill>
              <a:srgbClr val="0F766E"/>
            </a:solidFill>
            <a:prstDash val="solid"/>
          </a:ln>
        </p:spPr>
      </p:sp>
      <p:sp>
        <p:nvSpPr>
          <p:cNvPr id="26" name="Text 24"/>
          <p:cNvSpPr txBox="1"/>
          <p:nvPr/>
        </p:nvSpPr>
        <p:spPr>
          <a:xfrm>
            <a:off x="6446520" y="2688336"/>
            <a:ext cx="1828800" cy="256032"/>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Glucose</a:t>
            </a:r>
            <a:endParaRPr lang="en-US" sz="1300" dirty="0"/>
          </a:p>
        </p:txBody>
      </p:sp>
      <p:sp>
        <p:nvSpPr>
          <p:cNvPr id="27" name="Shape 25"/>
          <p:cNvSpPr/>
          <p:nvPr/>
        </p:nvSpPr>
        <p:spPr>
          <a:xfrm>
            <a:off x="7635240" y="2697480"/>
            <a:ext cx="1691640" cy="237744"/>
          </a:xfrm>
          <a:prstGeom prst="roundRect">
            <a:avLst>
              <a:gd name="adj" fmla="val 23077"/>
            </a:avLst>
          </a:prstGeom>
          <a:solidFill>
            <a:srgbClr val="FEF3C7"/>
          </a:solidFill>
          <a:ln w="12700">
            <a:solidFill>
              <a:srgbClr val="FEF3C7"/>
            </a:solidFill>
            <a:prstDash val="solid"/>
          </a:ln>
        </p:spPr>
      </p:sp>
      <p:sp>
        <p:nvSpPr>
          <p:cNvPr id="28" name="Text 26"/>
          <p:cNvSpPr txBox="1"/>
          <p:nvPr/>
        </p:nvSpPr>
        <p:spPr>
          <a:xfrm>
            <a:off x="7635240" y="2697480"/>
            <a:ext cx="1691640" cy="237744"/>
          </a:xfrm>
          <a:prstGeom prst="rect">
            <a:avLst/>
          </a:prstGeom>
          <a:noFill/>
          <a:ln/>
        </p:spPr>
        <p:txBody>
          <a:bodyPr wrap="square" lIns="0" tIns="0" rIns="0" bIns="0" rtlCol="0" anchor="ctr"/>
          <a:lstStyle/>
          <a:p>
            <a:pPr algn="ctr" indent="0" marL="0">
              <a:buNone/>
            </a:pPr>
            <a:r>
              <a:rPr lang="en-US" sz="950" b="1" dirty="0">
                <a:solidFill>
                  <a:srgbClr val="92400E"/>
                </a:solidFill>
                <a:latin typeface="Calibri" pitchFamily="34" charset="0"/>
                <a:ea typeface="Calibri" pitchFamily="34" charset="-122"/>
                <a:cs typeface="Calibri" pitchFamily="34" charset="-120"/>
              </a:rPr>
              <a:t>Marked high</a:t>
            </a:r>
            <a:endParaRPr lang="en-US" sz="950" dirty="0"/>
          </a:p>
        </p:txBody>
      </p:sp>
      <p:sp>
        <p:nvSpPr>
          <p:cNvPr id="29" name="Text 27"/>
          <p:cNvSpPr txBox="1"/>
          <p:nvPr/>
        </p:nvSpPr>
        <p:spPr>
          <a:xfrm>
            <a:off x="6446520" y="2990088"/>
            <a:ext cx="4626864" cy="402336"/>
          </a:xfrm>
          <a:prstGeom prst="rect">
            <a:avLst/>
          </a:prstGeom>
          <a:noFill/>
          <a:ln/>
        </p:spPr>
        <p:txBody>
          <a:bodyPr wrap="square" lIns="0" tIns="0" rIns="0" bIns="0" rtlCol="0" anchor="ctr"/>
          <a:lstStyle/>
          <a:p>
            <a:pPr indent="0" marL="0">
              <a:lnSpc>
                <a:spcPts val="1400"/>
              </a:lnSpc>
              <a:buNone/>
            </a:pPr>
            <a:r>
              <a:rPr lang="en-US" sz="1100" dirty="0">
                <a:solidFill>
                  <a:srgbClr val="16324F"/>
                </a:solidFill>
                <a:latin typeface="Calibri" pitchFamily="34" charset="0"/>
                <a:ea typeface="Calibri" pitchFamily="34" charset="-122"/>
                <a:cs typeface="Calibri" pitchFamily="34" charset="-120"/>
              </a:rPr>
              <a:t>Your report lists Glucose as 108 mg/dL. The reference range listed next to it is 70-99.</a:t>
            </a:r>
            <a:endParaRPr lang="en-US" sz="1100" dirty="0"/>
          </a:p>
        </p:txBody>
      </p:sp>
      <p:sp>
        <p:nvSpPr>
          <p:cNvPr id="30" name="Text 28"/>
          <p:cNvSpPr txBox="1"/>
          <p:nvPr/>
        </p:nvSpPr>
        <p:spPr>
          <a:xfrm>
            <a:off x="6446520" y="3383280"/>
            <a:ext cx="1828800" cy="201168"/>
          </a:xfrm>
          <a:prstGeom prst="rect">
            <a:avLst/>
          </a:prstGeom>
          <a:noFill/>
          <a:ln/>
        </p:spPr>
        <p:txBody>
          <a:bodyPr wrap="square" lIns="0" tIns="0" rIns="0" bIns="0" rtlCol="0" anchor="ctr"/>
          <a:lstStyle/>
          <a:p>
            <a:pPr indent="0" marL="0">
              <a:buNone/>
            </a:pPr>
            <a:r>
              <a:rPr lang="en-US" sz="950" dirty="0">
                <a:solidFill>
                  <a:srgbClr val="0F766E"/>
                </a:solidFill>
                <a:latin typeface="Calibri" pitchFamily="34" charset="0"/>
                <a:ea typeface="Calibri" pitchFamily="34" charset="-122"/>
                <a:cs typeface="Calibri" pitchFamily="34" charset="-120"/>
              </a:rPr>
              <a:t>Sources: S3</a:t>
            </a:r>
            <a:endParaRPr lang="en-US" sz="950" dirty="0"/>
          </a:p>
        </p:txBody>
      </p:sp>
      <p:sp>
        <p:nvSpPr>
          <p:cNvPr id="31" name="Shape 29"/>
          <p:cNvSpPr/>
          <p:nvPr/>
        </p:nvSpPr>
        <p:spPr>
          <a:xfrm>
            <a:off x="6245352" y="3767328"/>
            <a:ext cx="5029200" cy="1298448"/>
          </a:xfrm>
          <a:prstGeom prst="roundRect">
            <a:avLst>
              <a:gd name="adj" fmla="val 2817"/>
            </a:avLst>
          </a:prstGeom>
          <a:solidFill>
            <a:srgbClr val="FFFFFF"/>
          </a:solidFill>
          <a:ln w="12700">
            <a:solidFill>
              <a:srgbClr val="E2E8F0"/>
            </a:solidFill>
            <a:prstDash val="solid"/>
          </a:ln>
        </p:spPr>
      </p:sp>
      <p:sp>
        <p:nvSpPr>
          <p:cNvPr id="32" name="Text 30"/>
          <p:cNvSpPr txBox="1"/>
          <p:nvPr/>
        </p:nvSpPr>
        <p:spPr>
          <a:xfrm>
            <a:off x="6446520" y="3895344"/>
            <a:ext cx="3657600" cy="256032"/>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What Glucose means</a:t>
            </a:r>
            <a:endParaRPr lang="en-US" sz="1300" dirty="0"/>
          </a:p>
        </p:txBody>
      </p:sp>
      <p:sp>
        <p:nvSpPr>
          <p:cNvPr id="33" name="Text 31"/>
          <p:cNvSpPr txBox="1"/>
          <p:nvPr/>
        </p:nvSpPr>
        <p:spPr>
          <a:xfrm>
            <a:off x="6446520" y="4187952"/>
            <a:ext cx="4626864" cy="530352"/>
          </a:xfrm>
          <a:prstGeom prst="rect">
            <a:avLst/>
          </a:prstGeom>
          <a:noFill/>
          <a:ln/>
        </p:spPr>
        <p:txBody>
          <a:bodyPr wrap="square" lIns="0" tIns="0" rIns="0" bIns="0" rtlCol="0" anchor="ctr"/>
          <a:lstStyle/>
          <a:p>
            <a:pPr indent="0" marL="0">
              <a:lnSpc>
                <a:spcPts val="1400"/>
              </a:lnSpc>
              <a:buNone/>
            </a:pPr>
            <a:r>
              <a:rPr lang="en-US" sz="1100" dirty="0">
                <a:solidFill>
                  <a:srgbClr val="64748B"/>
                </a:solidFill>
                <a:latin typeface="Calibri" pitchFamily="34" charset="0"/>
                <a:ea typeface="Calibri" pitchFamily="34" charset="-122"/>
                <a:cs typeface="Calibri" pitchFamily="34" charset="-120"/>
              </a:rPr>
              <a:t>Glucose is the main sugar the body uses for energy. This test measures the amount in the blood at the time the sample was taken.</a:t>
            </a:r>
            <a:endParaRPr lang="en-US" sz="1100" dirty="0"/>
          </a:p>
        </p:txBody>
      </p:sp>
      <p:sp>
        <p:nvSpPr>
          <p:cNvPr id="34" name="Text 32"/>
          <p:cNvSpPr txBox="1"/>
          <p:nvPr/>
        </p:nvSpPr>
        <p:spPr>
          <a:xfrm>
            <a:off x="6446520" y="4754880"/>
            <a:ext cx="4389120" cy="219456"/>
          </a:xfrm>
          <a:prstGeom prst="rect">
            <a:avLst/>
          </a:prstGeom>
          <a:noFill/>
          <a:ln/>
        </p:spPr>
        <p:txBody>
          <a:bodyPr wrap="square" lIns="0" tIns="0" rIns="0" bIns="0" rtlCol="0" anchor="ctr"/>
          <a:lstStyle/>
          <a:p>
            <a:pPr indent="0" marL="0">
              <a:buNone/>
            </a:pPr>
            <a:r>
              <a:rPr lang="en-US" sz="950" b="1" dirty="0">
                <a:solidFill>
                  <a:srgbClr val="D97706"/>
                </a:solidFill>
                <a:latin typeface="Calibri" pitchFamily="34" charset="0"/>
                <a:ea typeface="Calibri" pitchFamily="34" charset="-122"/>
                <a:cs typeface="Calibri" pitchFamily="34" charset="-120"/>
              </a:rPr>
              <a:t>Source: PlainMed local glossary — not your report</a:t>
            </a:r>
            <a:endParaRPr lang="en-US" sz="950" dirty="0"/>
          </a:p>
        </p:txBody>
      </p:sp>
      <p:sp>
        <p:nvSpPr>
          <p:cNvPr id="35" name="Shape 33"/>
          <p:cNvSpPr/>
          <p:nvPr/>
        </p:nvSpPr>
        <p:spPr>
          <a:xfrm>
            <a:off x="658368" y="5705856"/>
            <a:ext cx="182880" cy="182880"/>
          </a:xfrm>
          <a:prstGeom prst="ellipse">
            <a:avLst/>
          </a:prstGeom>
          <a:solidFill>
            <a:srgbClr val="0F766E"/>
          </a:solidFill>
          <a:ln w="12700">
            <a:solidFill>
              <a:srgbClr val="0F766E"/>
            </a:solidFill>
            <a:prstDash val="solid"/>
          </a:ln>
        </p:spPr>
      </p:sp>
      <p:sp>
        <p:nvSpPr>
          <p:cNvPr id="36" name="Text 34"/>
          <p:cNvSpPr txBox="1"/>
          <p:nvPr/>
        </p:nvSpPr>
        <p:spPr>
          <a:xfrm>
            <a:off x="932688" y="5632704"/>
            <a:ext cx="2432304" cy="548640"/>
          </a:xfrm>
          <a:prstGeom prst="rect">
            <a:avLst/>
          </a:prstGeom>
          <a:noFill/>
          <a:ln/>
        </p:spPr>
        <p:txBody>
          <a:bodyPr wrap="square" lIns="0" tIns="0" rIns="0" bIns="0" rtlCol="0" anchor="ctr"/>
          <a:lstStyle/>
          <a:p>
            <a:pPr indent="0" marL="0">
              <a:lnSpc>
                <a:spcPts val="1400"/>
              </a:lnSpc>
              <a:buNone/>
            </a:pPr>
            <a:r>
              <a:rPr lang="en-US" sz="1100" dirty="0">
                <a:solidFill>
                  <a:srgbClr val="16324F"/>
                </a:solidFill>
                <a:latin typeface="Calibri" pitchFamily="34" charset="0"/>
                <a:ea typeface="Calibri" pitchFamily="34" charset="-122"/>
                <a:cs typeface="Calibri" pitchFamily="34" charset="-120"/>
              </a:rPr>
              <a:t>Extraction you confirm before anything is explained</a:t>
            </a:r>
            <a:endParaRPr lang="en-US" sz="1100" dirty="0"/>
          </a:p>
        </p:txBody>
      </p:sp>
      <p:sp>
        <p:nvSpPr>
          <p:cNvPr id="37" name="Shape 35"/>
          <p:cNvSpPr/>
          <p:nvPr/>
        </p:nvSpPr>
        <p:spPr>
          <a:xfrm>
            <a:off x="3456432" y="5705856"/>
            <a:ext cx="182880" cy="182880"/>
          </a:xfrm>
          <a:prstGeom prst="ellipse">
            <a:avLst/>
          </a:prstGeom>
          <a:solidFill>
            <a:srgbClr val="0F766E"/>
          </a:solidFill>
          <a:ln w="12700">
            <a:solidFill>
              <a:srgbClr val="0F766E"/>
            </a:solidFill>
            <a:prstDash val="solid"/>
          </a:ln>
        </p:spPr>
      </p:sp>
      <p:sp>
        <p:nvSpPr>
          <p:cNvPr id="38" name="Text 36"/>
          <p:cNvSpPr txBox="1"/>
          <p:nvPr/>
        </p:nvSpPr>
        <p:spPr>
          <a:xfrm>
            <a:off x="3730752" y="5632704"/>
            <a:ext cx="2432304" cy="548640"/>
          </a:xfrm>
          <a:prstGeom prst="rect">
            <a:avLst/>
          </a:prstGeom>
          <a:noFill/>
          <a:ln/>
        </p:spPr>
        <p:txBody>
          <a:bodyPr wrap="square" lIns="0" tIns="0" rIns="0" bIns="0" rtlCol="0" anchor="ctr"/>
          <a:lstStyle/>
          <a:p>
            <a:pPr indent="0" marL="0">
              <a:lnSpc>
                <a:spcPts val="1400"/>
              </a:lnSpc>
              <a:buNone/>
            </a:pPr>
            <a:r>
              <a:rPr lang="en-US" sz="1100" dirty="0">
                <a:solidFill>
                  <a:srgbClr val="16324F"/>
                </a:solidFill>
                <a:latin typeface="Calibri" pitchFamily="34" charset="0"/>
                <a:ea typeface="Calibri" pitchFamily="34" charset="-122"/>
                <a:cs typeface="Calibri" pitchFamily="34" charset="-120"/>
              </a:rPr>
              <a:t>Questions to take to your clinician</a:t>
            </a:r>
            <a:endParaRPr lang="en-US" sz="1100" dirty="0"/>
          </a:p>
        </p:txBody>
      </p:sp>
      <p:sp>
        <p:nvSpPr>
          <p:cNvPr id="39" name="Shape 37"/>
          <p:cNvSpPr/>
          <p:nvPr/>
        </p:nvSpPr>
        <p:spPr>
          <a:xfrm>
            <a:off x="6254496" y="5705856"/>
            <a:ext cx="182880" cy="182880"/>
          </a:xfrm>
          <a:prstGeom prst="ellipse">
            <a:avLst/>
          </a:prstGeom>
          <a:solidFill>
            <a:srgbClr val="0F766E"/>
          </a:solidFill>
          <a:ln w="12700">
            <a:solidFill>
              <a:srgbClr val="0F766E"/>
            </a:solidFill>
            <a:prstDash val="solid"/>
          </a:ln>
        </p:spPr>
      </p:sp>
      <p:sp>
        <p:nvSpPr>
          <p:cNvPr id="40" name="Text 38"/>
          <p:cNvSpPr txBox="1"/>
          <p:nvPr/>
        </p:nvSpPr>
        <p:spPr>
          <a:xfrm>
            <a:off x="6528816" y="5632704"/>
            <a:ext cx="2432304" cy="548640"/>
          </a:xfrm>
          <a:prstGeom prst="rect">
            <a:avLst/>
          </a:prstGeom>
          <a:noFill/>
          <a:ln/>
        </p:spPr>
        <p:txBody>
          <a:bodyPr wrap="square" lIns="0" tIns="0" rIns="0" bIns="0" rtlCol="0" anchor="ctr"/>
          <a:lstStyle/>
          <a:p>
            <a:pPr indent="0" marL="0">
              <a:lnSpc>
                <a:spcPts val="1400"/>
              </a:lnSpc>
              <a:buNone/>
            </a:pPr>
            <a:r>
              <a:rPr lang="en-US" sz="1100" dirty="0">
                <a:solidFill>
                  <a:srgbClr val="16324F"/>
                </a:solidFill>
                <a:latin typeface="Calibri" pitchFamily="34" charset="0"/>
                <a:ea typeface="Calibri" pitchFamily="34" charset="-122"/>
                <a:cs typeface="Calibri" pitchFamily="34" charset="-120"/>
              </a:rPr>
              <a:t>A two-question understanding check</a:t>
            </a:r>
            <a:endParaRPr lang="en-US" sz="1100" dirty="0"/>
          </a:p>
        </p:txBody>
      </p:sp>
      <p:sp>
        <p:nvSpPr>
          <p:cNvPr id="41" name="Shape 39"/>
          <p:cNvSpPr/>
          <p:nvPr/>
        </p:nvSpPr>
        <p:spPr>
          <a:xfrm>
            <a:off x="9052560" y="5705856"/>
            <a:ext cx="182880" cy="182880"/>
          </a:xfrm>
          <a:prstGeom prst="ellipse">
            <a:avLst/>
          </a:prstGeom>
          <a:solidFill>
            <a:srgbClr val="0F766E"/>
          </a:solidFill>
          <a:ln w="12700">
            <a:solidFill>
              <a:srgbClr val="0F766E"/>
            </a:solidFill>
            <a:prstDash val="solid"/>
          </a:ln>
        </p:spPr>
      </p:sp>
      <p:sp>
        <p:nvSpPr>
          <p:cNvPr id="42" name="Text 40"/>
          <p:cNvSpPr txBox="1"/>
          <p:nvPr/>
        </p:nvSpPr>
        <p:spPr>
          <a:xfrm>
            <a:off x="9326880" y="5632704"/>
            <a:ext cx="2432304" cy="548640"/>
          </a:xfrm>
          <a:prstGeom prst="rect">
            <a:avLst/>
          </a:prstGeom>
          <a:noFill/>
          <a:ln/>
        </p:spPr>
        <p:txBody>
          <a:bodyPr wrap="square" lIns="0" tIns="0" rIns="0" bIns="0" rtlCol="0" anchor="ctr"/>
          <a:lstStyle/>
          <a:p>
            <a:pPr indent="0" marL="0">
              <a:lnSpc>
                <a:spcPts val="1400"/>
              </a:lnSpc>
              <a:buNone/>
            </a:pPr>
            <a:r>
              <a:rPr lang="en-US" sz="1100" dirty="0">
                <a:solidFill>
                  <a:srgbClr val="16324F"/>
                </a:solidFill>
                <a:latin typeface="Calibri" pitchFamily="34" charset="0"/>
                <a:ea typeface="Calibri" pitchFamily="34" charset="-122"/>
                <a:cs typeface="Calibri" pitchFamily="34" charset="-120"/>
              </a:rPr>
              <a:t>Clear session wipes the report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324F"/>
        </a:solidFill>
      </p:bgPr>
    </p:bg>
    <p:spTree>
      <p:nvGrpSpPr>
        <p:cNvPr id="1" name=""/>
        <p:cNvGrpSpPr/>
        <p:nvPr/>
      </p:nvGrpSpPr>
      <p:grpSpPr>
        <a:xfrm>
          <a:off x="0" y="0"/>
          <a:ext cx="0" cy="0"/>
          <a:chOff x="0" y="0"/>
          <a:chExt cx="0" cy="0"/>
        </a:xfrm>
      </p:grpSpPr>
      <p:sp>
        <p:nvSpPr>
          <p:cNvPr id="2" name="Text 0"/>
          <p:cNvSpPr txBox="1"/>
          <p:nvPr/>
        </p:nvSpPr>
        <p:spPr>
          <a:xfrm>
            <a:off x="658368" y="457200"/>
            <a:ext cx="10881360" cy="27432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WHY IT IS TRUSTWORTHY</a:t>
            </a:r>
            <a:endParaRPr lang="en-US" sz="1200" dirty="0"/>
          </a:p>
        </p:txBody>
      </p:sp>
      <p:sp>
        <p:nvSpPr>
          <p:cNvPr id="3" name="Text 1"/>
          <p:cNvSpPr txBox="1"/>
          <p:nvPr/>
        </p:nvSpPr>
        <p:spPr>
          <a:xfrm>
            <a:off x="658368" y="804672"/>
            <a:ext cx="1088136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distinction nobody else draws</a:t>
            </a:r>
            <a:endParaRPr lang="en-US" sz="3400" dirty="0"/>
          </a:p>
        </p:txBody>
      </p:sp>
      <p:sp>
        <p:nvSpPr>
          <p:cNvPr id="4" name="Text 2"/>
          <p:cNvSpPr txBox="1"/>
          <p:nvPr/>
        </p:nvSpPr>
        <p:spPr>
          <a:xfrm>
            <a:off x="658368" y="1591056"/>
            <a:ext cx="105156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 report may name a test without defining it. PlainMed never lets an added explanation borrow the report's authority.</a:t>
            </a:r>
            <a:endParaRPr lang="en-US" sz="1400" dirty="0"/>
          </a:p>
        </p:txBody>
      </p:sp>
      <p:sp>
        <p:nvSpPr>
          <p:cNvPr id="5" name="Shape 3"/>
          <p:cNvSpPr/>
          <p:nvPr/>
        </p:nvSpPr>
        <p:spPr>
          <a:xfrm>
            <a:off x="658368" y="2212848"/>
            <a:ext cx="3383280" cy="2880360"/>
          </a:xfrm>
          <a:prstGeom prst="roundRect">
            <a:avLst>
              <a:gd name="adj" fmla="val 1587"/>
            </a:avLst>
          </a:prstGeom>
          <a:solidFill>
            <a:srgbClr val="1E4160"/>
          </a:solidFill>
          <a:ln w="12700">
            <a:solidFill>
              <a:srgbClr val="2A5578"/>
            </a:solidFill>
            <a:prstDash val="solid"/>
          </a:ln>
        </p:spPr>
      </p:sp>
      <p:sp>
        <p:nvSpPr>
          <p:cNvPr id="6" name="Text 4"/>
          <p:cNvSpPr txBox="1"/>
          <p:nvPr/>
        </p:nvSpPr>
        <p:spPr>
          <a:xfrm>
            <a:off x="932688" y="2487168"/>
            <a:ext cx="2871216" cy="640080"/>
          </a:xfrm>
          <a:prstGeom prst="rect">
            <a:avLst/>
          </a:prstGeom>
          <a:noFill/>
          <a:ln/>
        </p:spPr>
        <p:txBody>
          <a:bodyPr wrap="square" lIns="0" tIns="0" rIns="0" bIns="0" rtlCol="0" anchor="ctr"/>
          <a:lstStyle/>
          <a:p>
            <a:pPr indent="0" marL="0">
              <a:lnSpc>
                <a:spcPts val="2200"/>
              </a:lnSpc>
              <a:buNone/>
            </a:pPr>
            <a:r>
              <a:rPr lang="en-US" sz="1750" b="1" dirty="0">
                <a:solidFill>
                  <a:srgbClr val="2DD4BF"/>
                </a:solidFill>
                <a:latin typeface="Cambria" pitchFamily="34" charset="0"/>
                <a:ea typeface="Cambria" pitchFamily="34" charset="-122"/>
                <a:cs typeface="Cambria" pitchFamily="34" charset="-120"/>
              </a:rPr>
              <a:t>“Your report says…”</a:t>
            </a:r>
            <a:endParaRPr lang="en-US" sz="1750" dirty="0"/>
          </a:p>
        </p:txBody>
      </p:sp>
      <p:sp>
        <p:nvSpPr>
          <p:cNvPr id="7" name="Text 5"/>
          <p:cNvSpPr txBox="1"/>
          <p:nvPr/>
        </p:nvSpPr>
        <p:spPr>
          <a:xfrm>
            <a:off x="932688" y="3255264"/>
            <a:ext cx="2871216" cy="1143000"/>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Supported by the uploaded document. Carries source IDs. Every number is checked against the cited line.</a:t>
            </a:r>
            <a:endParaRPr lang="en-US" sz="1250" dirty="0"/>
          </a:p>
        </p:txBody>
      </p:sp>
      <p:sp>
        <p:nvSpPr>
          <p:cNvPr id="8" name="Text 6"/>
          <p:cNvSpPr txBox="1"/>
          <p:nvPr/>
        </p:nvSpPr>
        <p:spPr>
          <a:xfrm>
            <a:off x="932688" y="4553712"/>
            <a:ext cx="2871216" cy="329184"/>
          </a:xfrm>
          <a:prstGeom prst="rect">
            <a:avLst/>
          </a:prstGeom>
          <a:noFill/>
          <a:ln/>
        </p:spPr>
        <p:txBody>
          <a:bodyPr wrap="square" lIns="0" tIns="0" rIns="0" bIns="0" rtlCol="0" anchor="ctr"/>
          <a:lstStyle/>
          <a:p>
            <a:pPr indent="0" marL="0">
              <a:buNone/>
            </a:pPr>
            <a:r>
              <a:rPr lang="en-US" sz="1000" b="1" dirty="0">
                <a:solidFill>
                  <a:srgbClr val="2DD4BF"/>
                </a:solidFill>
                <a:latin typeface="Calibri" pitchFamily="34" charset="0"/>
                <a:ea typeface="Calibri" pitchFamily="34" charset="-122"/>
                <a:cs typeface="Calibri" pitchFamily="34" charset="-120"/>
              </a:rPr>
              <a:t>Sources: S3</a:t>
            </a:r>
            <a:endParaRPr lang="en-US" sz="1000" dirty="0"/>
          </a:p>
        </p:txBody>
      </p:sp>
      <p:sp>
        <p:nvSpPr>
          <p:cNvPr id="9" name="Shape 7"/>
          <p:cNvSpPr/>
          <p:nvPr/>
        </p:nvSpPr>
        <p:spPr>
          <a:xfrm>
            <a:off x="4343400" y="2212848"/>
            <a:ext cx="3383280" cy="2880360"/>
          </a:xfrm>
          <a:prstGeom prst="roundRect">
            <a:avLst>
              <a:gd name="adj" fmla="val 1587"/>
            </a:avLst>
          </a:prstGeom>
          <a:solidFill>
            <a:srgbClr val="1E4160"/>
          </a:solidFill>
          <a:ln w="12700">
            <a:solidFill>
              <a:srgbClr val="2A5578"/>
            </a:solidFill>
            <a:prstDash val="solid"/>
          </a:ln>
        </p:spPr>
      </p:sp>
      <p:sp>
        <p:nvSpPr>
          <p:cNvPr id="10" name="Text 8"/>
          <p:cNvSpPr txBox="1"/>
          <p:nvPr/>
        </p:nvSpPr>
        <p:spPr>
          <a:xfrm>
            <a:off x="4617720" y="2487168"/>
            <a:ext cx="2871216" cy="640080"/>
          </a:xfrm>
          <a:prstGeom prst="rect">
            <a:avLst/>
          </a:prstGeom>
          <a:noFill/>
          <a:ln/>
        </p:spPr>
        <p:txBody>
          <a:bodyPr wrap="square" lIns="0" tIns="0" rIns="0" bIns="0" rtlCol="0" anchor="ctr"/>
          <a:lstStyle/>
          <a:p>
            <a:pPr indent="0" marL="0">
              <a:lnSpc>
                <a:spcPts val="2200"/>
              </a:lnSpc>
              <a:buNone/>
            </a:pPr>
            <a:r>
              <a:rPr lang="en-US" sz="1750" b="1" dirty="0">
                <a:solidFill>
                  <a:srgbClr val="CBD5E1"/>
                </a:solidFill>
                <a:latin typeface="Cambria" pitchFamily="34" charset="0"/>
                <a:ea typeface="Cambria" pitchFamily="34" charset="-122"/>
                <a:cs typeface="Cambria" pitchFamily="34" charset="-120"/>
              </a:rPr>
              <a:t>“What this term means…”</a:t>
            </a:r>
            <a:endParaRPr lang="en-US" sz="1750" dirty="0"/>
          </a:p>
        </p:txBody>
      </p:sp>
      <p:sp>
        <p:nvSpPr>
          <p:cNvPr id="11" name="Text 9"/>
          <p:cNvSpPr txBox="1"/>
          <p:nvPr/>
        </p:nvSpPr>
        <p:spPr>
          <a:xfrm>
            <a:off x="4617720" y="3255264"/>
            <a:ext cx="2871216" cy="1143000"/>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From a small, local, reviewed glossary of 40 blood tests. Carries no source IDs, and says so on the card.</a:t>
            </a:r>
            <a:endParaRPr lang="en-US" sz="1250" dirty="0"/>
          </a:p>
        </p:txBody>
      </p:sp>
      <p:sp>
        <p:nvSpPr>
          <p:cNvPr id="12" name="Text 10"/>
          <p:cNvSpPr txBox="1"/>
          <p:nvPr/>
        </p:nvSpPr>
        <p:spPr>
          <a:xfrm>
            <a:off x="4617720" y="4553712"/>
            <a:ext cx="2871216" cy="329184"/>
          </a:xfrm>
          <a:prstGeom prst="rect">
            <a:avLst/>
          </a:prstGeom>
          <a:noFill/>
          <a:ln/>
        </p:spPr>
        <p:txBody>
          <a:bodyPr wrap="square" lIns="0" tIns="0" rIns="0" bIns="0" rtlCol="0" anchor="ctr"/>
          <a:lstStyle/>
          <a:p>
            <a:pPr indent="0" marL="0">
              <a:buNone/>
            </a:pPr>
            <a:r>
              <a:rPr lang="en-US" sz="1000" b="1" dirty="0">
                <a:solidFill>
                  <a:srgbClr val="CBD5E1"/>
                </a:solidFill>
                <a:latin typeface="Calibri" pitchFamily="34" charset="0"/>
                <a:ea typeface="Calibri" pitchFamily="34" charset="-122"/>
                <a:cs typeface="Calibri" pitchFamily="34" charset="-120"/>
              </a:rPr>
              <a:t>Source: local glossary</a:t>
            </a:r>
            <a:endParaRPr lang="en-US" sz="1000" dirty="0"/>
          </a:p>
        </p:txBody>
      </p:sp>
      <p:sp>
        <p:nvSpPr>
          <p:cNvPr id="13" name="Shape 11"/>
          <p:cNvSpPr/>
          <p:nvPr/>
        </p:nvSpPr>
        <p:spPr>
          <a:xfrm>
            <a:off x="8028432" y="2212848"/>
            <a:ext cx="3383280" cy="2880360"/>
          </a:xfrm>
          <a:prstGeom prst="roundRect">
            <a:avLst>
              <a:gd name="adj" fmla="val 1587"/>
            </a:avLst>
          </a:prstGeom>
          <a:solidFill>
            <a:srgbClr val="1E4160"/>
          </a:solidFill>
          <a:ln w="12700">
            <a:solidFill>
              <a:srgbClr val="2A5578"/>
            </a:solidFill>
            <a:prstDash val="solid"/>
          </a:ln>
        </p:spPr>
      </p:sp>
      <p:sp>
        <p:nvSpPr>
          <p:cNvPr id="14" name="Text 12"/>
          <p:cNvSpPr txBox="1"/>
          <p:nvPr/>
        </p:nvSpPr>
        <p:spPr>
          <a:xfrm>
            <a:off x="8302752" y="2487168"/>
            <a:ext cx="2871216" cy="640080"/>
          </a:xfrm>
          <a:prstGeom prst="rect">
            <a:avLst/>
          </a:prstGeom>
          <a:noFill/>
          <a:ln/>
        </p:spPr>
        <p:txBody>
          <a:bodyPr wrap="square" lIns="0" tIns="0" rIns="0" bIns="0" rtlCol="0" anchor="ctr"/>
          <a:lstStyle/>
          <a:p>
            <a:pPr indent="0" marL="0">
              <a:lnSpc>
                <a:spcPts val="2200"/>
              </a:lnSpc>
              <a:buNone/>
            </a:pPr>
            <a:r>
              <a:rPr lang="en-US" sz="1750" b="1" dirty="0">
                <a:solidFill>
                  <a:srgbClr val="FCD34D"/>
                </a:solidFill>
                <a:latin typeface="Cambria" pitchFamily="34" charset="0"/>
                <a:ea typeface="Cambria" pitchFamily="34" charset="-122"/>
                <a:cs typeface="Cambria" pitchFamily="34" charset="-120"/>
              </a:rPr>
              <a:t>“Not specified…”</a:t>
            </a:r>
            <a:endParaRPr lang="en-US" sz="1750" dirty="0"/>
          </a:p>
        </p:txBody>
      </p:sp>
      <p:sp>
        <p:nvSpPr>
          <p:cNvPr id="15" name="Text 13"/>
          <p:cNvSpPr txBox="1"/>
          <p:nvPr/>
        </p:nvSpPr>
        <p:spPr>
          <a:xfrm>
            <a:off x="8302752" y="3255264"/>
            <a:ext cx="2871216" cy="1143000"/>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The report does not answer this. PlainMed says so plainly instead of filling the gap with a plausible guess.</a:t>
            </a:r>
            <a:endParaRPr lang="en-US" sz="1250" dirty="0"/>
          </a:p>
        </p:txBody>
      </p:sp>
      <p:sp>
        <p:nvSpPr>
          <p:cNvPr id="16" name="Text 14"/>
          <p:cNvSpPr txBox="1"/>
          <p:nvPr/>
        </p:nvSpPr>
        <p:spPr>
          <a:xfrm>
            <a:off x="8302752" y="4553712"/>
            <a:ext cx="2871216" cy="329184"/>
          </a:xfrm>
          <a:prstGeom prst="rect">
            <a:avLst/>
          </a:prstGeom>
          <a:noFill/>
          <a:ln/>
        </p:spPr>
        <p:txBody>
          <a:bodyPr wrap="square" lIns="0" tIns="0" rIns="0" bIns="0" rtlCol="0" anchor="ctr"/>
          <a:lstStyle/>
          <a:p>
            <a:pPr indent="0" marL="0">
              <a:buNone/>
            </a:pPr>
            <a:r>
              <a:rPr lang="en-US" sz="1000" b="1" dirty="0">
                <a:solidFill>
                  <a:srgbClr val="FCD34D"/>
                </a:solidFill>
                <a:latin typeface="Calibri" pitchFamily="34" charset="0"/>
                <a:ea typeface="Calibri" pitchFamily="34" charset="-122"/>
                <a:cs typeface="Calibri" pitchFamily="34" charset="-120"/>
              </a:rPr>
              <a:t>Becomes a question for your clinician</a:t>
            </a:r>
            <a:endParaRPr lang="en-US" sz="1000" dirty="0"/>
          </a:p>
        </p:txBody>
      </p:sp>
      <p:sp>
        <p:nvSpPr>
          <p:cNvPr id="17" name="Text 15"/>
          <p:cNvSpPr txBox="1"/>
          <p:nvPr/>
        </p:nvSpPr>
        <p:spPr>
          <a:xfrm>
            <a:off x="658368" y="5532120"/>
            <a:ext cx="10698480" cy="457200"/>
          </a:xfrm>
          <a:prstGeom prst="rect">
            <a:avLst/>
          </a:prstGeom>
          <a:noFill/>
          <a:ln/>
        </p:spPr>
        <p:txBody>
          <a:bodyPr wrap="square" lIns="0" tIns="0" rIns="0" bIns="0" rtlCol="0" anchor="ctr"/>
          <a:lstStyle/>
          <a:p>
            <a:pPr indent="0" marL="0">
              <a:buNone/>
            </a:pPr>
            <a:r>
              <a:rPr lang="en-US" sz="1400" i="1" dirty="0">
                <a:solidFill>
                  <a:srgbClr val="2DD4BF"/>
                </a:solidFill>
                <a:latin typeface="Calibri" pitchFamily="34" charset="0"/>
                <a:ea typeface="Calibri" pitchFamily="34" charset="-122"/>
                <a:cs typeface="Calibri" pitchFamily="34" charset="-120"/>
              </a:rPr>
              <a:t>Source links alone do not prove an explanation is correct — so PlainMed also checks that each statement actually follows from the line it cites.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58368" y="457200"/>
            <a:ext cx="1088136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658368" y="804672"/>
            <a:ext cx="10881360" cy="658368"/>
          </a:xfrm>
          <a:prstGeom prst="rect">
            <a:avLst/>
          </a:prstGeom>
          <a:noFill/>
          <a:ln/>
        </p:spPr>
        <p:txBody>
          <a:bodyPr wrap="square" lIns="0" tIns="0" rIns="0" bIns="0" rtlCol="0" anchor="ctr"/>
          <a:lstStyle/>
          <a:p>
            <a:pPr indent="0" marL="0">
              <a:buNone/>
            </a:pPr>
            <a:r>
              <a:rPr lang="en-US" sz="3400" b="1" dirty="0">
                <a:solidFill>
                  <a:srgbClr val="16324F"/>
                </a:solidFill>
                <a:latin typeface="Cambria" pitchFamily="34" charset="0"/>
                <a:ea typeface="Cambria" pitchFamily="34" charset="-122"/>
                <a:cs typeface="Cambria" pitchFamily="34" charset="-120"/>
              </a:rPr>
              <a:t>Deterministic core, model on the side</a:t>
            </a:r>
            <a:endParaRPr lang="en-US" sz="3400" dirty="0"/>
          </a:p>
        </p:txBody>
      </p:sp>
      <p:sp>
        <p:nvSpPr>
          <p:cNvPr id="4" name="Text 2"/>
          <p:cNvSpPr txBox="1"/>
          <p:nvPr/>
        </p:nvSpPr>
        <p:spPr>
          <a:xfrm>
            <a:off x="658368" y="1572768"/>
            <a:ext cx="10698480" cy="36576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Numbers are never parsed by a language model. Extraction, findings, gaps and questions are pure Python — reproducible and unit-tested.</a:t>
            </a:r>
            <a:endParaRPr lang="en-US" sz="1350" dirty="0"/>
          </a:p>
        </p:txBody>
      </p:sp>
      <p:sp>
        <p:nvSpPr>
          <p:cNvPr id="5" name="Shape 3"/>
          <p:cNvSpPr/>
          <p:nvPr/>
        </p:nvSpPr>
        <p:spPr>
          <a:xfrm>
            <a:off x="658368" y="2148840"/>
            <a:ext cx="2011680" cy="1828800"/>
          </a:xfrm>
          <a:prstGeom prst="roundRect">
            <a:avLst>
              <a:gd name="adj" fmla="val 2000"/>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6" name="Shape 4"/>
          <p:cNvSpPr/>
          <p:nvPr/>
        </p:nvSpPr>
        <p:spPr>
          <a:xfrm>
            <a:off x="859536" y="2350008"/>
            <a:ext cx="384048" cy="384048"/>
          </a:xfrm>
          <a:prstGeom prst="ellipse">
            <a:avLst/>
          </a:prstGeom>
          <a:solidFill>
            <a:srgbClr val="0F766E"/>
          </a:solidFill>
          <a:ln w="12700">
            <a:solidFill>
              <a:srgbClr val="0F766E"/>
            </a:solidFill>
            <a:prstDash val="solid"/>
          </a:ln>
        </p:spPr>
      </p:sp>
      <p:sp>
        <p:nvSpPr>
          <p:cNvPr id="7" name="Text 5"/>
          <p:cNvSpPr txBox="1"/>
          <p:nvPr/>
        </p:nvSpPr>
        <p:spPr>
          <a:xfrm>
            <a:off x="859536" y="2350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35024" y="2386584"/>
            <a:ext cx="1280160" cy="31089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Ingest</a:t>
            </a:r>
            <a:endParaRPr lang="en-US" sz="1500" dirty="0"/>
          </a:p>
        </p:txBody>
      </p:sp>
      <p:sp>
        <p:nvSpPr>
          <p:cNvPr id="9" name="Text 7"/>
          <p:cNvSpPr txBox="1"/>
          <p:nvPr/>
        </p:nvSpPr>
        <p:spPr>
          <a:xfrm>
            <a:off x="859536" y="2926080"/>
            <a:ext cx="1737360" cy="868680"/>
          </a:xfrm>
          <a:prstGeom prst="rect">
            <a:avLst/>
          </a:prstGeom>
          <a:noFill/>
          <a:ln/>
        </p:spPr>
        <p:txBody>
          <a:bodyPr wrap="square" lIns="0" tIns="0" rIns="0" bIns="0" rtlCol="0" anchor="ctr"/>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Paste or text-PDF</a:t>
            </a:r>
            <a:endParaRPr lang="en-US" sz="1050" dirty="0"/>
          </a:p>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pypdf · scans rejected</a:t>
            </a:r>
            <a:endParaRPr lang="en-US" sz="1050" dirty="0"/>
          </a:p>
        </p:txBody>
      </p:sp>
      <p:sp>
        <p:nvSpPr>
          <p:cNvPr id="10" name="Text 8"/>
          <p:cNvSpPr txBox="1"/>
          <p:nvPr/>
        </p:nvSpPr>
        <p:spPr>
          <a:xfrm>
            <a:off x="2670048" y="2880360"/>
            <a:ext cx="201168" cy="365760"/>
          </a:xfrm>
          <a:prstGeom prst="rect">
            <a:avLst/>
          </a:prstGeom>
          <a:noFill/>
          <a:ln/>
        </p:spPr>
        <p:txBody>
          <a:bodyPr wrap="square" lIns="0" tIns="0" rIns="0" bIns="0" rtlCol="0" anchor="ctr"/>
          <a:lstStyle/>
          <a:p>
            <a:pPr algn="ctr" indent="0" marL="0">
              <a:buNone/>
            </a:pPr>
            <a:r>
              <a:rPr lang="en-US" sz="1700" b="1" dirty="0">
                <a:solidFill>
                  <a:srgbClr val="0F766E"/>
                </a:solidFill>
                <a:latin typeface="Calibri" pitchFamily="34" charset="0"/>
                <a:ea typeface="Calibri" pitchFamily="34" charset="-122"/>
                <a:cs typeface="Calibri" pitchFamily="34" charset="-120"/>
              </a:rPr>
              <a:t>→</a:t>
            </a:r>
            <a:endParaRPr lang="en-US" sz="1700" dirty="0"/>
          </a:p>
        </p:txBody>
      </p:sp>
      <p:sp>
        <p:nvSpPr>
          <p:cNvPr id="11" name="Shape 9"/>
          <p:cNvSpPr/>
          <p:nvPr/>
        </p:nvSpPr>
        <p:spPr>
          <a:xfrm>
            <a:off x="2871216" y="2148840"/>
            <a:ext cx="2011680" cy="1828800"/>
          </a:xfrm>
          <a:prstGeom prst="roundRect">
            <a:avLst>
              <a:gd name="adj" fmla="val 2000"/>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12" name="Shape 10"/>
          <p:cNvSpPr/>
          <p:nvPr/>
        </p:nvSpPr>
        <p:spPr>
          <a:xfrm>
            <a:off x="3072384" y="2350008"/>
            <a:ext cx="384048" cy="384048"/>
          </a:xfrm>
          <a:prstGeom prst="ellipse">
            <a:avLst/>
          </a:prstGeom>
          <a:solidFill>
            <a:srgbClr val="0F766E"/>
          </a:solidFill>
          <a:ln w="12700">
            <a:solidFill>
              <a:srgbClr val="0F766E"/>
            </a:solidFill>
            <a:prstDash val="solid"/>
          </a:ln>
        </p:spPr>
      </p:sp>
      <p:sp>
        <p:nvSpPr>
          <p:cNvPr id="13" name="Text 11"/>
          <p:cNvSpPr txBox="1"/>
          <p:nvPr/>
        </p:nvSpPr>
        <p:spPr>
          <a:xfrm>
            <a:off x="3072384" y="2350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547872" y="2386584"/>
            <a:ext cx="1280160" cy="31089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Extract</a:t>
            </a:r>
            <a:endParaRPr lang="en-US" sz="1500" dirty="0"/>
          </a:p>
        </p:txBody>
      </p:sp>
      <p:sp>
        <p:nvSpPr>
          <p:cNvPr id="15" name="Text 13"/>
          <p:cNvSpPr txBox="1"/>
          <p:nvPr/>
        </p:nvSpPr>
        <p:spPr>
          <a:xfrm>
            <a:off x="3072384" y="2926080"/>
            <a:ext cx="1737360" cy="868680"/>
          </a:xfrm>
          <a:prstGeom prst="rect">
            <a:avLst/>
          </a:prstGeom>
          <a:noFill/>
          <a:ln/>
        </p:spPr>
        <p:txBody>
          <a:bodyPr wrap="square" lIns="0" tIns="0" rIns="0" bIns="0" rtlCol="0" anchor="ctr"/>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Values, units, ranges,</a:t>
            </a:r>
            <a:endParaRPr lang="en-US" sz="1050" dirty="0"/>
          </a:p>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flags + stable source IDs</a:t>
            </a:r>
            <a:endParaRPr lang="en-US" sz="1050" dirty="0"/>
          </a:p>
        </p:txBody>
      </p:sp>
      <p:sp>
        <p:nvSpPr>
          <p:cNvPr id="16" name="Text 14"/>
          <p:cNvSpPr txBox="1"/>
          <p:nvPr/>
        </p:nvSpPr>
        <p:spPr>
          <a:xfrm>
            <a:off x="4882896" y="2880360"/>
            <a:ext cx="201168" cy="365760"/>
          </a:xfrm>
          <a:prstGeom prst="rect">
            <a:avLst/>
          </a:prstGeom>
          <a:noFill/>
          <a:ln/>
        </p:spPr>
        <p:txBody>
          <a:bodyPr wrap="square" lIns="0" tIns="0" rIns="0" bIns="0" rtlCol="0" anchor="ctr"/>
          <a:lstStyle/>
          <a:p>
            <a:pPr algn="ctr" indent="0" marL="0">
              <a:buNone/>
            </a:pPr>
            <a:r>
              <a:rPr lang="en-US" sz="1700" b="1" dirty="0">
                <a:solidFill>
                  <a:srgbClr val="0F766E"/>
                </a:solidFill>
                <a:latin typeface="Calibri" pitchFamily="34" charset="0"/>
                <a:ea typeface="Calibri" pitchFamily="34" charset="-122"/>
                <a:cs typeface="Calibri" pitchFamily="34" charset="-120"/>
              </a:rPr>
              <a:t>→</a:t>
            </a:r>
            <a:endParaRPr lang="en-US" sz="1700" dirty="0"/>
          </a:p>
        </p:txBody>
      </p:sp>
      <p:sp>
        <p:nvSpPr>
          <p:cNvPr id="17" name="Shape 15"/>
          <p:cNvSpPr/>
          <p:nvPr/>
        </p:nvSpPr>
        <p:spPr>
          <a:xfrm>
            <a:off x="5084064" y="2148840"/>
            <a:ext cx="2011680" cy="1828800"/>
          </a:xfrm>
          <a:prstGeom prst="roundRect">
            <a:avLst>
              <a:gd name="adj" fmla="val 2000"/>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18" name="Shape 16"/>
          <p:cNvSpPr/>
          <p:nvPr/>
        </p:nvSpPr>
        <p:spPr>
          <a:xfrm>
            <a:off x="5285232" y="2350008"/>
            <a:ext cx="384048" cy="384048"/>
          </a:xfrm>
          <a:prstGeom prst="ellipse">
            <a:avLst/>
          </a:prstGeom>
          <a:solidFill>
            <a:srgbClr val="0F766E"/>
          </a:solidFill>
          <a:ln w="12700">
            <a:solidFill>
              <a:srgbClr val="0F766E"/>
            </a:solidFill>
            <a:prstDash val="solid"/>
          </a:ln>
        </p:spPr>
      </p:sp>
      <p:sp>
        <p:nvSpPr>
          <p:cNvPr id="19" name="Text 17"/>
          <p:cNvSpPr txBox="1"/>
          <p:nvPr/>
        </p:nvSpPr>
        <p:spPr>
          <a:xfrm>
            <a:off x="5285232" y="2350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5760720" y="2386584"/>
            <a:ext cx="1280160" cy="31089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Explain</a:t>
            </a:r>
            <a:endParaRPr lang="en-US" sz="1500" dirty="0"/>
          </a:p>
        </p:txBody>
      </p:sp>
      <p:sp>
        <p:nvSpPr>
          <p:cNvPr id="21" name="Text 19"/>
          <p:cNvSpPr txBox="1"/>
          <p:nvPr/>
        </p:nvSpPr>
        <p:spPr>
          <a:xfrm>
            <a:off x="5285232" y="2926080"/>
            <a:ext cx="1737360" cy="868680"/>
          </a:xfrm>
          <a:prstGeom prst="rect">
            <a:avLst/>
          </a:prstGeom>
          <a:noFill/>
          <a:ln/>
        </p:spPr>
        <p:txBody>
          <a:bodyPr wrap="square" lIns="0" tIns="0" rIns="0" bIns="0" rtlCol="0" anchor="ctr"/>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Report / glossary / gap</a:t>
            </a:r>
            <a:endParaRPr lang="en-US" sz="1050" dirty="0"/>
          </a:p>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cards from parsed data</a:t>
            </a:r>
            <a:endParaRPr lang="en-US" sz="1050" dirty="0"/>
          </a:p>
        </p:txBody>
      </p:sp>
      <p:sp>
        <p:nvSpPr>
          <p:cNvPr id="22" name="Text 20"/>
          <p:cNvSpPr txBox="1"/>
          <p:nvPr/>
        </p:nvSpPr>
        <p:spPr>
          <a:xfrm>
            <a:off x="7095744" y="2880360"/>
            <a:ext cx="201168" cy="365760"/>
          </a:xfrm>
          <a:prstGeom prst="rect">
            <a:avLst/>
          </a:prstGeom>
          <a:noFill/>
          <a:ln/>
        </p:spPr>
        <p:txBody>
          <a:bodyPr wrap="square" lIns="0" tIns="0" rIns="0" bIns="0" rtlCol="0" anchor="ctr"/>
          <a:lstStyle/>
          <a:p>
            <a:pPr algn="ctr" indent="0" marL="0">
              <a:buNone/>
            </a:pPr>
            <a:r>
              <a:rPr lang="en-US" sz="1700" b="1" dirty="0">
                <a:solidFill>
                  <a:srgbClr val="0F766E"/>
                </a:solidFill>
                <a:latin typeface="Calibri" pitchFamily="34" charset="0"/>
                <a:ea typeface="Calibri" pitchFamily="34" charset="-122"/>
                <a:cs typeface="Calibri" pitchFamily="34" charset="-120"/>
              </a:rPr>
              <a:t>→</a:t>
            </a:r>
            <a:endParaRPr lang="en-US" sz="1700" dirty="0"/>
          </a:p>
        </p:txBody>
      </p:sp>
      <p:sp>
        <p:nvSpPr>
          <p:cNvPr id="23" name="Shape 21"/>
          <p:cNvSpPr/>
          <p:nvPr/>
        </p:nvSpPr>
        <p:spPr>
          <a:xfrm>
            <a:off x="7296912" y="2148840"/>
            <a:ext cx="2011680" cy="1828800"/>
          </a:xfrm>
          <a:prstGeom prst="roundRect">
            <a:avLst>
              <a:gd name="adj" fmla="val 2000"/>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24" name="Shape 22"/>
          <p:cNvSpPr/>
          <p:nvPr/>
        </p:nvSpPr>
        <p:spPr>
          <a:xfrm>
            <a:off x="7498080" y="2350008"/>
            <a:ext cx="384048" cy="384048"/>
          </a:xfrm>
          <a:prstGeom prst="ellipse">
            <a:avLst/>
          </a:prstGeom>
          <a:solidFill>
            <a:srgbClr val="0F766E"/>
          </a:solidFill>
          <a:ln w="12700">
            <a:solidFill>
              <a:srgbClr val="0F766E"/>
            </a:solidFill>
            <a:prstDash val="solid"/>
          </a:ln>
        </p:spPr>
      </p:sp>
      <p:sp>
        <p:nvSpPr>
          <p:cNvPr id="25" name="Text 23"/>
          <p:cNvSpPr txBox="1"/>
          <p:nvPr/>
        </p:nvSpPr>
        <p:spPr>
          <a:xfrm>
            <a:off x="7498080" y="2350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7973568" y="2386584"/>
            <a:ext cx="1280160" cy="31089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Validate</a:t>
            </a:r>
            <a:endParaRPr lang="en-US" sz="1500" dirty="0"/>
          </a:p>
        </p:txBody>
      </p:sp>
      <p:sp>
        <p:nvSpPr>
          <p:cNvPr id="27" name="Text 25"/>
          <p:cNvSpPr txBox="1"/>
          <p:nvPr/>
        </p:nvSpPr>
        <p:spPr>
          <a:xfrm>
            <a:off x="7498080" y="2926080"/>
            <a:ext cx="1737360" cy="868680"/>
          </a:xfrm>
          <a:prstGeom prst="rect">
            <a:avLst/>
          </a:prstGeom>
          <a:noFill/>
          <a:ln/>
        </p:spPr>
        <p:txBody>
          <a:bodyPr wrap="square" lIns="0" tIns="0" rIns="0" bIns="0" rtlCol="0" anchor="ctr"/>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Citation · number · claim</a:t>
            </a:r>
            <a:endParaRPr lang="en-US" sz="1050" dirty="0"/>
          </a:p>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checks on every sentence</a:t>
            </a:r>
            <a:endParaRPr lang="en-US" sz="1050" dirty="0"/>
          </a:p>
        </p:txBody>
      </p:sp>
      <p:sp>
        <p:nvSpPr>
          <p:cNvPr id="28" name="Text 26"/>
          <p:cNvSpPr txBox="1"/>
          <p:nvPr/>
        </p:nvSpPr>
        <p:spPr>
          <a:xfrm>
            <a:off x="9308592" y="2880360"/>
            <a:ext cx="201168" cy="365760"/>
          </a:xfrm>
          <a:prstGeom prst="rect">
            <a:avLst/>
          </a:prstGeom>
          <a:noFill/>
          <a:ln/>
        </p:spPr>
        <p:txBody>
          <a:bodyPr wrap="square" lIns="0" tIns="0" rIns="0" bIns="0" rtlCol="0" anchor="ctr"/>
          <a:lstStyle/>
          <a:p>
            <a:pPr algn="ctr" indent="0" marL="0">
              <a:buNone/>
            </a:pPr>
            <a:r>
              <a:rPr lang="en-US" sz="1700" b="1" dirty="0">
                <a:solidFill>
                  <a:srgbClr val="0F766E"/>
                </a:solidFill>
                <a:latin typeface="Calibri" pitchFamily="34" charset="0"/>
                <a:ea typeface="Calibri" pitchFamily="34" charset="-122"/>
                <a:cs typeface="Calibri" pitchFamily="34" charset="-120"/>
              </a:rPr>
              <a:t>→</a:t>
            </a:r>
            <a:endParaRPr lang="en-US" sz="1700" dirty="0"/>
          </a:p>
        </p:txBody>
      </p:sp>
      <p:sp>
        <p:nvSpPr>
          <p:cNvPr id="29" name="Shape 27"/>
          <p:cNvSpPr/>
          <p:nvPr/>
        </p:nvSpPr>
        <p:spPr>
          <a:xfrm>
            <a:off x="9509760" y="2148840"/>
            <a:ext cx="2011680" cy="1828800"/>
          </a:xfrm>
          <a:prstGeom prst="roundRect">
            <a:avLst>
              <a:gd name="adj" fmla="val 2000"/>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30" name="Shape 28"/>
          <p:cNvSpPr/>
          <p:nvPr/>
        </p:nvSpPr>
        <p:spPr>
          <a:xfrm>
            <a:off x="9710928" y="2350008"/>
            <a:ext cx="384048" cy="384048"/>
          </a:xfrm>
          <a:prstGeom prst="ellipse">
            <a:avLst/>
          </a:prstGeom>
          <a:solidFill>
            <a:srgbClr val="0F766E"/>
          </a:solidFill>
          <a:ln w="12700">
            <a:solidFill>
              <a:srgbClr val="0F766E"/>
            </a:solidFill>
            <a:prstDash val="solid"/>
          </a:ln>
        </p:spPr>
      </p:sp>
      <p:sp>
        <p:nvSpPr>
          <p:cNvPr id="31" name="Text 29"/>
          <p:cNvSpPr txBox="1"/>
          <p:nvPr/>
        </p:nvSpPr>
        <p:spPr>
          <a:xfrm>
            <a:off x="9710928" y="2350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10186416" y="2386584"/>
            <a:ext cx="1280160" cy="31089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Present</a:t>
            </a:r>
            <a:endParaRPr lang="en-US" sz="1500" dirty="0"/>
          </a:p>
        </p:txBody>
      </p:sp>
      <p:sp>
        <p:nvSpPr>
          <p:cNvPr id="33" name="Text 31"/>
          <p:cNvSpPr txBox="1"/>
          <p:nvPr/>
        </p:nvSpPr>
        <p:spPr>
          <a:xfrm>
            <a:off x="9710928" y="2926080"/>
            <a:ext cx="1737360" cy="868680"/>
          </a:xfrm>
          <a:prstGeom prst="rect">
            <a:avLst/>
          </a:prstGeom>
          <a:noFill/>
          <a:ln/>
        </p:spPr>
        <p:txBody>
          <a:bodyPr wrap="square" lIns="0" tIns="0" rIns="0" bIns="0" rtlCol="0" anchor="ctr"/>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Cards, clinician questions,</a:t>
            </a:r>
            <a:endParaRPr lang="en-US" sz="1050" dirty="0"/>
          </a:p>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understanding check</a:t>
            </a:r>
            <a:endParaRPr lang="en-US" sz="1050" dirty="0"/>
          </a:p>
        </p:txBody>
      </p:sp>
      <p:sp>
        <p:nvSpPr>
          <p:cNvPr id="34" name="Shape 32"/>
          <p:cNvSpPr/>
          <p:nvPr/>
        </p:nvSpPr>
        <p:spPr>
          <a:xfrm>
            <a:off x="658368" y="4279392"/>
            <a:ext cx="5577840" cy="1783080"/>
          </a:xfrm>
          <a:prstGeom prst="roundRect">
            <a:avLst>
              <a:gd name="adj" fmla="val 2051"/>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35" name="Text 33"/>
          <p:cNvSpPr txBox="1"/>
          <p:nvPr/>
        </p:nvSpPr>
        <p:spPr>
          <a:xfrm>
            <a:off x="914400" y="4443984"/>
            <a:ext cx="4114800" cy="274320"/>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Narrative backend — pluggable</a:t>
            </a:r>
            <a:endParaRPr lang="en-US" sz="1250" dirty="0"/>
          </a:p>
        </p:txBody>
      </p:sp>
      <p:sp>
        <p:nvSpPr>
          <p:cNvPr id="36" name="Shape 34"/>
          <p:cNvSpPr/>
          <p:nvPr/>
        </p:nvSpPr>
        <p:spPr>
          <a:xfrm>
            <a:off x="914400" y="4828032"/>
            <a:ext cx="2377440" cy="932688"/>
          </a:xfrm>
          <a:prstGeom prst="roundRect">
            <a:avLst>
              <a:gd name="adj" fmla="val 4902"/>
            </a:avLst>
          </a:prstGeom>
          <a:solidFill>
            <a:srgbClr val="F0FDFA"/>
          </a:solidFill>
          <a:ln w="12700">
            <a:solidFill>
              <a:srgbClr val="0F766E"/>
            </a:solidFill>
            <a:prstDash val="solid"/>
          </a:ln>
        </p:spPr>
      </p:sp>
      <p:sp>
        <p:nvSpPr>
          <p:cNvPr id="37" name="Text 35"/>
          <p:cNvSpPr txBox="1"/>
          <p:nvPr/>
        </p:nvSpPr>
        <p:spPr>
          <a:xfrm>
            <a:off x="932688" y="4919472"/>
            <a:ext cx="2340864" cy="457200"/>
          </a:xfrm>
          <a:prstGeom prst="rect">
            <a:avLst/>
          </a:prstGeom>
          <a:noFill/>
          <a:ln/>
        </p:spPr>
        <p:txBody>
          <a:bodyPr wrap="square" lIns="0" tIns="0" rIns="0" bIns="0" rtlCol="0" anchor="ctr"/>
          <a:lstStyle/>
          <a:p>
            <a:pPr algn="ctr" indent="0" marL="0">
              <a:lnSpc>
                <a:spcPts val="1500"/>
              </a:lnSpc>
              <a:buNone/>
            </a:pPr>
            <a:r>
              <a:rPr lang="en-US" sz="1150" b="1" dirty="0">
                <a:solidFill>
                  <a:srgbClr val="0F766E"/>
                </a:solidFill>
                <a:latin typeface="Calibri" pitchFamily="34" charset="0"/>
                <a:ea typeface="Calibri" pitchFamily="34" charset="-122"/>
                <a:cs typeface="Calibri" pitchFamily="34" charset="-120"/>
              </a:rPr>
              <a:t>Deterministic</a:t>
            </a:r>
            <a:endParaRPr lang="en-US" sz="1150" dirty="0"/>
          </a:p>
          <a:p>
            <a:pPr algn="ctr" indent="0" marL="0">
              <a:lnSpc>
                <a:spcPts val="1500"/>
              </a:lnSpc>
              <a:buNone/>
            </a:pPr>
            <a:r>
              <a:rPr lang="en-US" sz="1150" b="1" dirty="0">
                <a:solidFill>
                  <a:srgbClr val="0F766E"/>
                </a:solidFill>
                <a:latin typeface="Calibri" pitchFamily="34" charset="0"/>
                <a:ea typeface="Calibri" pitchFamily="34" charset="-122"/>
                <a:cs typeface="Calibri" pitchFamily="34" charset="-120"/>
              </a:rPr>
              <a:t>template engine</a:t>
            </a:r>
            <a:endParaRPr lang="en-US" sz="1150" dirty="0"/>
          </a:p>
        </p:txBody>
      </p:sp>
      <p:sp>
        <p:nvSpPr>
          <p:cNvPr id="38" name="Text 36"/>
          <p:cNvSpPr txBox="1"/>
          <p:nvPr/>
        </p:nvSpPr>
        <p:spPr>
          <a:xfrm>
            <a:off x="932688" y="5413248"/>
            <a:ext cx="2340864" cy="21945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default · no GPU</a:t>
            </a:r>
            <a:endParaRPr lang="en-US" sz="950" dirty="0"/>
          </a:p>
        </p:txBody>
      </p:sp>
      <p:sp>
        <p:nvSpPr>
          <p:cNvPr id="39" name="Shape 37"/>
          <p:cNvSpPr/>
          <p:nvPr/>
        </p:nvSpPr>
        <p:spPr>
          <a:xfrm>
            <a:off x="3520440" y="4828032"/>
            <a:ext cx="2377440" cy="932688"/>
          </a:xfrm>
          <a:prstGeom prst="roundRect">
            <a:avLst>
              <a:gd name="adj" fmla="val 4902"/>
            </a:avLst>
          </a:prstGeom>
          <a:solidFill>
            <a:srgbClr val="F0FDFA"/>
          </a:solidFill>
          <a:ln w="12700">
            <a:solidFill>
              <a:srgbClr val="0F766E"/>
            </a:solidFill>
            <a:prstDash val="solid"/>
          </a:ln>
        </p:spPr>
      </p:sp>
      <p:sp>
        <p:nvSpPr>
          <p:cNvPr id="40" name="Text 38"/>
          <p:cNvSpPr txBox="1"/>
          <p:nvPr/>
        </p:nvSpPr>
        <p:spPr>
          <a:xfrm>
            <a:off x="3538728" y="4919472"/>
            <a:ext cx="2340864" cy="457200"/>
          </a:xfrm>
          <a:prstGeom prst="rect">
            <a:avLst/>
          </a:prstGeom>
          <a:noFill/>
          <a:ln/>
        </p:spPr>
        <p:txBody>
          <a:bodyPr wrap="square" lIns="0" tIns="0" rIns="0" bIns="0" rtlCol="0" anchor="ctr"/>
          <a:lstStyle/>
          <a:p>
            <a:pPr algn="ctr" indent="0" marL="0">
              <a:lnSpc>
                <a:spcPts val="1500"/>
              </a:lnSpc>
              <a:buNone/>
            </a:pPr>
            <a:r>
              <a:rPr lang="en-US" sz="1150" b="1" dirty="0">
                <a:solidFill>
                  <a:srgbClr val="0F766E"/>
                </a:solidFill>
                <a:latin typeface="Calibri" pitchFamily="34" charset="0"/>
                <a:ea typeface="Calibri" pitchFamily="34" charset="-122"/>
                <a:cs typeface="Calibri" pitchFamily="34" charset="-120"/>
              </a:rPr>
              <a:t>MedGemma 1.5 4B</a:t>
            </a:r>
            <a:endParaRPr lang="en-US" sz="1150" dirty="0"/>
          </a:p>
          <a:p>
            <a:pPr algn="ctr" indent="0" marL="0">
              <a:lnSpc>
                <a:spcPts val="1500"/>
              </a:lnSpc>
              <a:buNone/>
            </a:pPr>
            <a:r>
              <a:rPr lang="en-US" sz="1150" b="1" dirty="0">
                <a:solidFill>
                  <a:srgbClr val="0F766E"/>
                </a:solidFill>
                <a:latin typeface="Calibri" pitchFamily="34" charset="0"/>
                <a:ea typeface="Calibri" pitchFamily="34" charset="-122"/>
                <a:cs typeface="Calibri" pitchFamily="34" charset="-120"/>
              </a:rPr>
              <a:t>local inference</a:t>
            </a:r>
            <a:endParaRPr lang="en-US" sz="1150" dirty="0"/>
          </a:p>
        </p:txBody>
      </p:sp>
      <p:sp>
        <p:nvSpPr>
          <p:cNvPr id="41" name="Text 39"/>
          <p:cNvSpPr txBox="1"/>
          <p:nvPr/>
        </p:nvSpPr>
        <p:spPr>
          <a:xfrm>
            <a:off x="3538728" y="5413248"/>
            <a:ext cx="2340864" cy="21945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optional · NVIDIA CUDA</a:t>
            </a:r>
            <a:endParaRPr lang="en-US" sz="950" dirty="0"/>
          </a:p>
        </p:txBody>
      </p:sp>
      <p:sp>
        <p:nvSpPr>
          <p:cNvPr id="42" name="Shape 40"/>
          <p:cNvSpPr/>
          <p:nvPr/>
        </p:nvSpPr>
        <p:spPr>
          <a:xfrm>
            <a:off x="6446520" y="4279392"/>
            <a:ext cx="5093208" cy="1783080"/>
          </a:xfrm>
          <a:prstGeom prst="roundRect">
            <a:avLst>
              <a:gd name="adj" fmla="val 2051"/>
            </a:avLst>
          </a:prstGeom>
          <a:solidFill>
            <a:srgbClr val="16324F"/>
          </a:solidFill>
          <a:ln w="12700">
            <a:solidFill>
              <a:srgbClr val="16324F"/>
            </a:solidFill>
            <a:prstDash val="solid"/>
          </a:ln>
          <a:effectLst>
            <a:outerShdw sx="100000" sy="100000" kx="0" ky="0" algn="bl" rotWithShape="0" blurRad="152400" dist="25400" dir="5400000">
              <a:srgbClr val="0A1622">
                <a:alpha val="18000"/>
              </a:srgbClr>
            </a:outerShdw>
          </a:effectLst>
        </p:spPr>
      </p:sp>
      <p:sp>
        <p:nvSpPr>
          <p:cNvPr id="43" name="Text 41"/>
          <p:cNvSpPr txBox="1"/>
          <p:nvPr/>
        </p:nvSpPr>
        <p:spPr>
          <a:xfrm>
            <a:off x="6702552" y="4462272"/>
            <a:ext cx="4617720" cy="292608"/>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Both backends pass the same validator.</a:t>
            </a:r>
            <a:endParaRPr lang="en-US" sz="1400" dirty="0"/>
          </a:p>
        </p:txBody>
      </p:sp>
      <p:sp>
        <p:nvSpPr>
          <p:cNvPr id="44" name="Text 42"/>
          <p:cNvSpPr txBox="1"/>
          <p:nvPr/>
        </p:nvSpPr>
        <p:spPr>
          <a:xfrm>
            <a:off x="6702552" y="4846320"/>
            <a:ext cx="4617720" cy="109728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The model can add fluency. It cannot add facts. If it is missing, fails to load, or its output fails validation, PlainMed degrades to the deterministic summary and tells the user which backend produced what they are reading.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58368" y="457200"/>
            <a:ext cx="1088136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THE VALIDATION LAYER</a:t>
            </a:r>
            <a:endParaRPr lang="en-US" sz="1200" dirty="0"/>
          </a:p>
        </p:txBody>
      </p:sp>
      <p:sp>
        <p:nvSpPr>
          <p:cNvPr id="3" name="Text 1"/>
          <p:cNvSpPr txBox="1"/>
          <p:nvPr/>
        </p:nvSpPr>
        <p:spPr>
          <a:xfrm>
            <a:off x="658368" y="804672"/>
            <a:ext cx="10881360" cy="658368"/>
          </a:xfrm>
          <a:prstGeom prst="rect">
            <a:avLst/>
          </a:prstGeom>
          <a:noFill/>
          <a:ln/>
        </p:spPr>
        <p:txBody>
          <a:bodyPr wrap="square" lIns="0" tIns="0" rIns="0" bIns="0" rtlCol="0" anchor="ctr"/>
          <a:lstStyle/>
          <a:p>
            <a:pPr indent="0" marL="0">
              <a:buNone/>
            </a:pPr>
            <a:r>
              <a:rPr lang="en-US" sz="3400" b="1" dirty="0">
                <a:solidFill>
                  <a:srgbClr val="16324F"/>
                </a:solidFill>
                <a:latin typeface="Cambria" pitchFamily="34" charset="0"/>
                <a:ea typeface="Cambria" pitchFamily="34" charset="-122"/>
                <a:cs typeface="Cambria" pitchFamily="34" charset="-120"/>
              </a:rPr>
              <a:t>Three gates every sentence must pass</a:t>
            </a:r>
            <a:endParaRPr lang="en-US" sz="3400" dirty="0"/>
          </a:p>
        </p:txBody>
      </p:sp>
      <p:sp>
        <p:nvSpPr>
          <p:cNvPr id="4" name="Text 2"/>
          <p:cNvSpPr txBox="1"/>
          <p:nvPr/>
        </p:nvSpPr>
        <p:spPr>
          <a:xfrm>
            <a:off x="658368" y="1572768"/>
            <a:ext cx="10698480" cy="36576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Applied identically to template output and model output. A statement that fails is removed and reported — never silently shown.</a:t>
            </a:r>
            <a:endParaRPr lang="en-US" sz="1350" dirty="0"/>
          </a:p>
        </p:txBody>
      </p:sp>
      <p:sp>
        <p:nvSpPr>
          <p:cNvPr id="5" name="Shape 3"/>
          <p:cNvSpPr/>
          <p:nvPr/>
        </p:nvSpPr>
        <p:spPr>
          <a:xfrm>
            <a:off x="658368" y="2148840"/>
            <a:ext cx="3383280" cy="1691640"/>
          </a:xfrm>
          <a:prstGeom prst="roundRect">
            <a:avLst>
              <a:gd name="adj" fmla="val 2162"/>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6" name="Shape 4"/>
          <p:cNvSpPr/>
          <p:nvPr/>
        </p:nvSpPr>
        <p:spPr>
          <a:xfrm>
            <a:off x="914400" y="2359152"/>
            <a:ext cx="365760" cy="365760"/>
          </a:xfrm>
          <a:prstGeom prst="ellipse">
            <a:avLst/>
          </a:prstGeom>
          <a:solidFill>
            <a:srgbClr val="0F766E"/>
          </a:solidFill>
          <a:ln w="12700">
            <a:solidFill>
              <a:srgbClr val="0F766E"/>
            </a:solidFill>
            <a:prstDash val="solid"/>
          </a:ln>
        </p:spPr>
      </p:sp>
      <p:sp>
        <p:nvSpPr>
          <p:cNvPr id="7" name="Text 5"/>
          <p:cNvSpPr txBox="1"/>
          <p:nvPr/>
        </p:nvSpPr>
        <p:spPr>
          <a:xfrm>
            <a:off x="914400" y="2359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2386584"/>
            <a:ext cx="2560320" cy="31089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Citation exists</a:t>
            </a:r>
            <a:endParaRPr lang="en-US" sz="1500" dirty="0"/>
          </a:p>
        </p:txBody>
      </p:sp>
      <p:sp>
        <p:nvSpPr>
          <p:cNvPr id="9" name="Text 7"/>
          <p:cNvSpPr txBox="1"/>
          <p:nvPr/>
        </p:nvSpPr>
        <p:spPr>
          <a:xfrm>
            <a:off x="914400" y="2871216"/>
            <a:ext cx="2889504" cy="841248"/>
          </a:xfrm>
          <a:prstGeom prst="rect">
            <a:avLst/>
          </a:prstGeom>
          <a:noFill/>
          <a:ln/>
        </p:spPr>
        <p:txBody>
          <a:bodyPr wrap="square" lIns="0" tIns="0" rIns="0" bIns="0" rtlCol="0" anchor="ctr"/>
          <a:lstStyle/>
          <a:p>
            <a:pPr indent="0" marL="0">
              <a:lnSpc>
                <a:spcPts val="1600"/>
              </a:lnSpc>
              <a:buNone/>
            </a:pPr>
            <a:r>
              <a:rPr lang="en-US" sz="1150" dirty="0">
                <a:solidFill>
                  <a:srgbClr val="64748B"/>
                </a:solidFill>
                <a:latin typeface="Calibri" pitchFamily="34" charset="0"/>
                <a:ea typeface="Calibri" pitchFamily="34" charset="-122"/>
                <a:cs typeface="Calibri" pitchFamily="34" charset="-120"/>
              </a:rPr>
              <a:t>Every cited source ID must resolve to a real line in this document.</a:t>
            </a:r>
            <a:endParaRPr lang="en-US" sz="1150" dirty="0"/>
          </a:p>
        </p:txBody>
      </p:sp>
      <p:sp>
        <p:nvSpPr>
          <p:cNvPr id="10" name="Shape 8"/>
          <p:cNvSpPr/>
          <p:nvPr/>
        </p:nvSpPr>
        <p:spPr>
          <a:xfrm>
            <a:off x="4343400" y="2148840"/>
            <a:ext cx="3383280" cy="1691640"/>
          </a:xfrm>
          <a:prstGeom prst="roundRect">
            <a:avLst>
              <a:gd name="adj" fmla="val 2162"/>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11" name="Shape 9"/>
          <p:cNvSpPr/>
          <p:nvPr/>
        </p:nvSpPr>
        <p:spPr>
          <a:xfrm>
            <a:off x="4599432" y="2359152"/>
            <a:ext cx="365760" cy="365760"/>
          </a:xfrm>
          <a:prstGeom prst="ellipse">
            <a:avLst/>
          </a:prstGeom>
          <a:solidFill>
            <a:srgbClr val="0F766E"/>
          </a:solidFill>
          <a:ln w="12700">
            <a:solidFill>
              <a:srgbClr val="0F766E"/>
            </a:solidFill>
            <a:prstDash val="solid"/>
          </a:ln>
        </p:spPr>
      </p:sp>
      <p:sp>
        <p:nvSpPr>
          <p:cNvPr id="12" name="Text 10"/>
          <p:cNvSpPr txBox="1"/>
          <p:nvPr/>
        </p:nvSpPr>
        <p:spPr>
          <a:xfrm>
            <a:off x="4599432" y="2359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5056632" y="2386584"/>
            <a:ext cx="2560320" cy="31089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Numbers match</a:t>
            </a:r>
            <a:endParaRPr lang="en-US" sz="1500" dirty="0"/>
          </a:p>
        </p:txBody>
      </p:sp>
      <p:sp>
        <p:nvSpPr>
          <p:cNvPr id="14" name="Text 12"/>
          <p:cNvSpPr txBox="1"/>
          <p:nvPr/>
        </p:nvSpPr>
        <p:spPr>
          <a:xfrm>
            <a:off x="4599432" y="2871216"/>
            <a:ext cx="2889504" cy="841248"/>
          </a:xfrm>
          <a:prstGeom prst="rect">
            <a:avLst/>
          </a:prstGeom>
          <a:noFill/>
          <a:ln/>
        </p:spPr>
        <p:txBody>
          <a:bodyPr wrap="square" lIns="0" tIns="0" rIns="0" bIns="0" rtlCol="0" anchor="ctr"/>
          <a:lstStyle/>
          <a:p>
            <a:pPr indent="0" marL="0">
              <a:lnSpc>
                <a:spcPts val="1600"/>
              </a:lnSpc>
              <a:buNone/>
            </a:pPr>
            <a:r>
              <a:rPr lang="en-US" sz="1150" dirty="0">
                <a:solidFill>
                  <a:srgbClr val="64748B"/>
                </a:solidFill>
                <a:latin typeface="Calibri" pitchFamily="34" charset="0"/>
                <a:ea typeface="Calibri" pitchFamily="34" charset="-122"/>
                <a:cs typeface="Calibri" pitchFamily="34" charset="-120"/>
              </a:rPr>
              <a:t>Every number in the sentence must appear in the cited line, compared as decimals — 13.5 matches 13.50, never 13.6.</a:t>
            </a:r>
            <a:endParaRPr lang="en-US" sz="1150" dirty="0"/>
          </a:p>
        </p:txBody>
      </p:sp>
      <p:sp>
        <p:nvSpPr>
          <p:cNvPr id="15" name="Shape 13"/>
          <p:cNvSpPr/>
          <p:nvPr/>
        </p:nvSpPr>
        <p:spPr>
          <a:xfrm>
            <a:off x="8028432" y="2148840"/>
            <a:ext cx="3383280" cy="1691640"/>
          </a:xfrm>
          <a:prstGeom prst="roundRect">
            <a:avLst>
              <a:gd name="adj" fmla="val 2162"/>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16" name="Shape 14"/>
          <p:cNvSpPr/>
          <p:nvPr/>
        </p:nvSpPr>
        <p:spPr>
          <a:xfrm>
            <a:off x="8284464" y="2359152"/>
            <a:ext cx="365760" cy="365760"/>
          </a:xfrm>
          <a:prstGeom prst="ellipse">
            <a:avLst/>
          </a:prstGeom>
          <a:solidFill>
            <a:srgbClr val="0F766E"/>
          </a:solidFill>
          <a:ln w="12700">
            <a:solidFill>
              <a:srgbClr val="0F766E"/>
            </a:solidFill>
            <a:prstDash val="solid"/>
          </a:ln>
        </p:spPr>
      </p:sp>
      <p:sp>
        <p:nvSpPr>
          <p:cNvPr id="17" name="Text 15"/>
          <p:cNvSpPr txBox="1"/>
          <p:nvPr/>
        </p:nvSpPr>
        <p:spPr>
          <a:xfrm>
            <a:off x="8284464" y="2359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741664" y="2386584"/>
            <a:ext cx="2560320" cy="31089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No forbidden claim</a:t>
            </a:r>
            <a:endParaRPr lang="en-US" sz="1500" dirty="0"/>
          </a:p>
        </p:txBody>
      </p:sp>
      <p:sp>
        <p:nvSpPr>
          <p:cNvPr id="19" name="Text 17"/>
          <p:cNvSpPr txBox="1"/>
          <p:nvPr/>
        </p:nvSpPr>
        <p:spPr>
          <a:xfrm>
            <a:off x="8284464" y="2871216"/>
            <a:ext cx="2889504" cy="841248"/>
          </a:xfrm>
          <a:prstGeom prst="rect">
            <a:avLst/>
          </a:prstGeom>
          <a:noFill/>
          <a:ln/>
        </p:spPr>
        <p:txBody>
          <a:bodyPr wrap="square" lIns="0" tIns="0" rIns="0" bIns="0" rtlCol="0" anchor="ctr"/>
          <a:lstStyle/>
          <a:p>
            <a:pPr indent="0" marL="0">
              <a:lnSpc>
                <a:spcPts val="1600"/>
              </a:lnSpc>
              <a:buNone/>
            </a:pPr>
            <a:r>
              <a:rPr lang="en-US" sz="1150" dirty="0">
                <a:solidFill>
                  <a:srgbClr val="64748B"/>
                </a:solidFill>
                <a:latin typeface="Calibri" pitchFamily="34" charset="0"/>
                <a:ea typeface="Calibri" pitchFamily="34" charset="-122"/>
                <a:cs typeface="Calibri" pitchFamily="34" charset="-120"/>
              </a:rPr>
              <a:t>Diagnosis, treatment advice and reassurance are rejected — unless the report itself says it.</a:t>
            </a:r>
            <a:endParaRPr lang="en-US" sz="1150" dirty="0"/>
          </a:p>
        </p:txBody>
      </p:sp>
      <p:sp>
        <p:nvSpPr>
          <p:cNvPr id="20" name="Text 18"/>
          <p:cNvSpPr txBox="1"/>
          <p:nvPr/>
        </p:nvSpPr>
        <p:spPr>
          <a:xfrm>
            <a:off x="658368" y="4069080"/>
            <a:ext cx="5486400" cy="310896"/>
          </a:xfrm>
          <a:prstGeom prst="rect">
            <a:avLst/>
          </a:prstGeom>
          <a:noFill/>
          <a:ln/>
        </p:spPr>
        <p:txBody>
          <a:bodyPr wrap="square" lIns="0" tIns="0" rIns="0" bIns="0" rtlCol="0" anchor="ctr"/>
          <a:lstStyle/>
          <a:p>
            <a:pPr indent="0" marL="0">
              <a:buNone/>
            </a:pPr>
            <a:r>
              <a:rPr lang="en-US" sz="1400" b="1" dirty="0">
                <a:solidFill>
                  <a:srgbClr val="16324F"/>
                </a:solidFill>
                <a:latin typeface="Calibri" pitchFamily="34" charset="0"/>
                <a:ea typeface="Calibri" pitchFamily="34" charset="-122"/>
                <a:cs typeface="Calibri" pitchFamily="34" charset="-120"/>
              </a:rPr>
              <a:t>What that rejects, in practice</a:t>
            </a:r>
            <a:endParaRPr lang="en-US" sz="1400" dirty="0"/>
          </a:p>
        </p:txBody>
      </p:sp>
      <p:sp>
        <p:nvSpPr>
          <p:cNvPr id="21" name="Shape 19"/>
          <p:cNvSpPr/>
          <p:nvPr/>
        </p:nvSpPr>
        <p:spPr>
          <a:xfrm>
            <a:off x="658368" y="4498848"/>
            <a:ext cx="10881360" cy="493776"/>
          </a:xfrm>
          <a:prstGeom prst="roundRect">
            <a:avLst>
              <a:gd name="adj" fmla="val 7407"/>
            </a:avLst>
          </a:prstGeom>
          <a:solidFill>
            <a:srgbClr val="FFFFFF"/>
          </a:solidFill>
          <a:ln w="12700">
            <a:solidFill>
              <a:srgbClr val="E2E8F0"/>
            </a:solidFill>
            <a:prstDash val="solid"/>
          </a:ln>
        </p:spPr>
      </p:sp>
      <p:sp>
        <p:nvSpPr>
          <p:cNvPr id="22" name="Text 20"/>
          <p:cNvSpPr txBox="1"/>
          <p:nvPr/>
        </p:nvSpPr>
        <p:spPr>
          <a:xfrm>
            <a:off x="804672" y="4498848"/>
            <a:ext cx="274320" cy="493776"/>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23" name="Text 21"/>
          <p:cNvSpPr txBox="1"/>
          <p:nvPr/>
        </p:nvSpPr>
        <p:spPr>
          <a:xfrm>
            <a:off x="1170432" y="4498848"/>
            <a:ext cx="4206240" cy="493776"/>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“Your hemoglobin is 14.2 g/dL.”</a:t>
            </a:r>
            <a:endParaRPr lang="en-US" sz="1200" dirty="0"/>
          </a:p>
        </p:txBody>
      </p:sp>
      <p:sp>
        <p:nvSpPr>
          <p:cNvPr id="24" name="Text 22"/>
          <p:cNvSpPr txBox="1"/>
          <p:nvPr/>
        </p:nvSpPr>
        <p:spPr>
          <a:xfrm>
            <a:off x="5486400" y="4498848"/>
            <a:ext cx="3931920" cy="49377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report says 13.5 — number absent from cited line</a:t>
            </a:r>
            <a:endParaRPr lang="en-US" sz="1150" dirty="0"/>
          </a:p>
        </p:txBody>
      </p:sp>
      <p:sp>
        <p:nvSpPr>
          <p:cNvPr id="25" name="Text 23"/>
          <p:cNvSpPr txBox="1"/>
          <p:nvPr/>
        </p:nvSpPr>
        <p:spPr>
          <a:xfrm>
            <a:off x="9509760" y="4498848"/>
            <a:ext cx="1874520" cy="493776"/>
          </a:xfrm>
          <a:prstGeom prst="rect">
            <a:avLst/>
          </a:prstGeom>
          <a:noFill/>
          <a:ln/>
        </p:spPr>
        <p:txBody>
          <a:bodyPr wrap="square" lIns="0" tIns="0" rIns="0" bIns="0" rtlCol="0" anchor="ctr"/>
          <a:lstStyle/>
          <a:p>
            <a:pPr algn="r" indent="0" marL="0">
              <a:buNone/>
            </a:pPr>
            <a:r>
              <a:rPr lang="en-US" sz="1050" dirty="0">
                <a:solidFill>
                  <a:srgbClr val="0F766E"/>
                </a:solidFill>
                <a:latin typeface="Courier New" pitchFamily="34" charset="0"/>
                <a:ea typeface="Courier New" pitchFamily="34" charset="-122"/>
                <a:cs typeface="Courier New" pitchFamily="34" charset="-120"/>
              </a:rPr>
              <a:t>number_mismatch</a:t>
            </a:r>
            <a:endParaRPr lang="en-US" sz="1050" dirty="0"/>
          </a:p>
        </p:txBody>
      </p:sp>
      <p:sp>
        <p:nvSpPr>
          <p:cNvPr id="26" name="Shape 24"/>
          <p:cNvSpPr/>
          <p:nvPr/>
        </p:nvSpPr>
        <p:spPr>
          <a:xfrm>
            <a:off x="658368" y="5084064"/>
            <a:ext cx="10881360" cy="493776"/>
          </a:xfrm>
          <a:prstGeom prst="roundRect">
            <a:avLst>
              <a:gd name="adj" fmla="val 7407"/>
            </a:avLst>
          </a:prstGeom>
          <a:solidFill>
            <a:srgbClr val="FFFFFF"/>
          </a:solidFill>
          <a:ln w="12700">
            <a:solidFill>
              <a:srgbClr val="E2E8F0"/>
            </a:solidFill>
            <a:prstDash val="solid"/>
          </a:ln>
        </p:spPr>
      </p:sp>
      <p:sp>
        <p:nvSpPr>
          <p:cNvPr id="27" name="Text 25"/>
          <p:cNvSpPr txBox="1"/>
          <p:nvPr/>
        </p:nvSpPr>
        <p:spPr>
          <a:xfrm>
            <a:off x="804672" y="5084064"/>
            <a:ext cx="274320" cy="493776"/>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1170432" y="5084064"/>
            <a:ext cx="4206240" cy="493776"/>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“Your Glucose of 108 means you have diabetes.”</a:t>
            </a:r>
            <a:endParaRPr lang="en-US" sz="1200" dirty="0"/>
          </a:p>
        </p:txBody>
      </p:sp>
      <p:sp>
        <p:nvSpPr>
          <p:cNvPr id="29" name="Text 27"/>
          <p:cNvSpPr txBox="1"/>
          <p:nvPr/>
        </p:nvSpPr>
        <p:spPr>
          <a:xfrm>
            <a:off x="5486400" y="5084064"/>
            <a:ext cx="3931920" cy="49377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diagnostic claim</a:t>
            </a:r>
            <a:endParaRPr lang="en-US" sz="1150" dirty="0"/>
          </a:p>
        </p:txBody>
      </p:sp>
      <p:sp>
        <p:nvSpPr>
          <p:cNvPr id="30" name="Text 28"/>
          <p:cNvSpPr txBox="1"/>
          <p:nvPr/>
        </p:nvSpPr>
        <p:spPr>
          <a:xfrm>
            <a:off x="9509760" y="5084064"/>
            <a:ext cx="1874520" cy="493776"/>
          </a:xfrm>
          <a:prstGeom prst="rect">
            <a:avLst/>
          </a:prstGeom>
          <a:noFill/>
          <a:ln/>
        </p:spPr>
        <p:txBody>
          <a:bodyPr wrap="square" lIns="0" tIns="0" rIns="0" bIns="0" rtlCol="0" anchor="ctr"/>
          <a:lstStyle/>
          <a:p>
            <a:pPr algn="r" indent="0" marL="0">
              <a:buNone/>
            </a:pPr>
            <a:r>
              <a:rPr lang="en-US" sz="1050" dirty="0">
                <a:solidFill>
                  <a:srgbClr val="0F766E"/>
                </a:solidFill>
                <a:latin typeface="Courier New" pitchFamily="34" charset="0"/>
                <a:ea typeface="Courier New" pitchFamily="34" charset="-122"/>
                <a:cs typeface="Courier New" pitchFamily="34" charset="-120"/>
              </a:rPr>
              <a:t>forbidden_claim</a:t>
            </a:r>
            <a:endParaRPr lang="en-US" sz="1050" dirty="0"/>
          </a:p>
        </p:txBody>
      </p:sp>
      <p:sp>
        <p:nvSpPr>
          <p:cNvPr id="31" name="Shape 29"/>
          <p:cNvSpPr/>
          <p:nvPr/>
        </p:nvSpPr>
        <p:spPr>
          <a:xfrm>
            <a:off x="658368" y="5669280"/>
            <a:ext cx="10881360" cy="493776"/>
          </a:xfrm>
          <a:prstGeom prst="roundRect">
            <a:avLst>
              <a:gd name="adj" fmla="val 7407"/>
            </a:avLst>
          </a:prstGeom>
          <a:solidFill>
            <a:srgbClr val="FFFFFF"/>
          </a:solidFill>
          <a:ln w="12700">
            <a:solidFill>
              <a:srgbClr val="E2E8F0"/>
            </a:solidFill>
            <a:prstDash val="solid"/>
          </a:ln>
        </p:spPr>
      </p:sp>
      <p:sp>
        <p:nvSpPr>
          <p:cNvPr id="32" name="Text 30"/>
          <p:cNvSpPr txBox="1"/>
          <p:nvPr/>
        </p:nvSpPr>
        <p:spPr>
          <a:xfrm>
            <a:off x="804672" y="5669280"/>
            <a:ext cx="274320" cy="493776"/>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33" name="Text 31"/>
          <p:cNvSpPr txBox="1"/>
          <p:nvPr/>
        </p:nvSpPr>
        <p:spPr>
          <a:xfrm>
            <a:off x="1170432" y="5669280"/>
            <a:ext cx="4206240" cy="493776"/>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“Nothing to worry about here.”</a:t>
            </a:r>
            <a:endParaRPr lang="en-US" sz="1200" dirty="0"/>
          </a:p>
        </p:txBody>
      </p:sp>
      <p:sp>
        <p:nvSpPr>
          <p:cNvPr id="34" name="Text 32"/>
          <p:cNvSpPr txBox="1"/>
          <p:nvPr/>
        </p:nvSpPr>
        <p:spPr>
          <a:xfrm>
            <a:off x="5486400" y="5669280"/>
            <a:ext cx="3931920" cy="49377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reassurance PlainMed is not entitled to give</a:t>
            </a:r>
            <a:endParaRPr lang="en-US" sz="1150" dirty="0"/>
          </a:p>
        </p:txBody>
      </p:sp>
      <p:sp>
        <p:nvSpPr>
          <p:cNvPr id="35" name="Text 33"/>
          <p:cNvSpPr txBox="1"/>
          <p:nvPr/>
        </p:nvSpPr>
        <p:spPr>
          <a:xfrm>
            <a:off x="9509760" y="5669280"/>
            <a:ext cx="1874520" cy="493776"/>
          </a:xfrm>
          <a:prstGeom prst="rect">
            <a:avLst/>
          </a:prstGeom>
          <a:noFill/>
          <a:ln/>
        </p:spPr>
        <p:txBody>
          <a:bodyPr wrap="square" lIns="0" tIns="0" rIns="0" bIns="0" rtlCol="0" anchor="ctr"/>
          <a:lstStyle/>
          <a:p>
            <a:pPr algn="r" indent="0" marL="0">
              <a:buNone/>
            </a:pPr>
            <a:r>
              <a:rPr lang="en-US" sz="1050" dirty="0">
                <a:solidFill>
                  <a:srgbClr val="0F766E"/>
                </a:solidFill>
                <a:latin typeface="Courier New" pitchFamily="34" charset="0"/>
                <a:ea typeface="Courier New" pitchFamily="34" charset="-122"/>
                <a:cs typeface="Courier New" pitchFamily="34" charset="-120"/>
              </a:rPr>
              <a:t>forbidden_claim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324F"/>
        </a:solidFill>
      </p:bgPr>
    </p:bg>
    <p:spTree>
      <p:nvGrpSpPr>
        <p:cNvPr id="1" name=""/>
        <p:cNvGrpSpPr/>
        <p:nvPr/>
      </p:nvGrpSpPr>
      <p:grpSpPr>
        <a:xfrm>
          <a:off x="0" y="0"/>
          <a:ext cx="0" cy="0"/>
          <a:chOff x="0" y="0"/>
          <a:chExt cx="0" cy="0"/>
        </a:xfrm>
      </p:grpSpPr>
      <p:sp>
        <p:nvSpPr>
          <p:cNvPr id="2" name="Text 0"/>
          <p:cNvSpPr txBox="1"/>
          <p:nvPr/>
        </p:nvSpPr>
        <p:spPr>
          <a:xfrm>
            <a:off x="658368" y="457200"/>
            <a:ext cx="10881360" cy="27432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PRIVACY</a:t>
            </a:r>
            <a:endParaRPr lang="en-US" sz="1200" dirty="0"/>
          </a:p>
        </p:txBody>
      </p:sp>
      <p:sp>
        <p:nvSpPr>
          <p:cNvPr id="3" name="Text 1"/>
          <p:cNvSpPr txBox="1"/>
          <p:nvPr/>
        </p:nvSpPr>
        <p:spPr>
          <a:xfrm>
            <a:off x="658368" y="804672"/>
            <a:ext cx="1088136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Offline is a property we test, not a promise we make</a:t>
            </a:r>
            <a:endParaRPr lang="en-US" sz="3400" dirty="0"/>
          </a:p>
        </p:txBody>
      </p:sp>
      <p:sp>
        <p:nvSpPr>
          <p:cNvPr id="4" name="Shape 2"/>
          <p:cNvSpPr/>
          <p:nvPr/>
        </p:nvSpPr>
        <p:spPr>
          <a:xfrm>
            <a:off x="658368" y="1901952"/>
            <a:ext cx="10881360" cy="603504"/>
          </a:xfrm>
          <a:prstGeom prst="roundRect">
            <a:avLst>
              <a:gd name="adj" fmla="val 6061"/>
            </a:avLst>
          </a:prstGeom>
          <a:solidFill>
            <a:srgbClr val="1E4160"/>
          </a:solidFill>
          <a:ln w="12700">
            <a:solidFill>
              <a:srgbClr val="2A5578"/>
            </a:solidFill>
            <a:prstDash val="solid"/>
          </a:ln>
        </p:spPr>
      </p:sp>
      <p:sp>
        <p:nvSpPr>
          <p:cNvPr id="5" name="Text 3"/>
          <p:cNvSpPr txBox="1"/>
          <p:nvPr/>
        </p:nvSpPr>
        <p:spPr>
          <a:xfrm>
            <a:off x="868680" y="1901952"/>
            <a:ext cx="310896" cy="60350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1261872" y="1901952"/>
            <a:ext cx="356616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inference leaves the device</a:t>
            </a:r>
            <a:endParaRPr lang="en-US" sz="1350" dirty="0"/>
          </a:p>
        </p:txBody>
      </p:sp>
      <p:sp>
        <p:nvSpPr>
          <p:cNvPr id="7" name="Text 5"/>
          <p:cNvSpPr txBox="1"/>
          <p:nvPr/>
        </p:nvSpPr>
        <p:spPr>
          <a:xfrm>
            <a:off x="4892040" y="1901952"/>
            <a:ext cx="6400800" cy="603504"/>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Weights loaded local-files-only; HF_HUB_OFFLINE forced before import</a:t>
            </a:r>
            <a:endParaRPr lang="en-US" sz="1150" dirty="0"/>
          </a:p>
        </p:txBody>
      </p:sp>
      <p:sp>
        <p:nvSpPr>
          <p:cNvPr id="8" name="Shape 6"/>
          <p:cNvSpPr/>
          <p:nvPr/>
        </p:nvSpPr>
        <p:spPr>
          <a:xfrm>
            <a:off x="658368" y="2624328"/>
            <a:ext cx="10881360" cy="603504"/>
          </a:xfrm>
          <a:prstGeom prst="roundRect">
            <a:avLst>
              <a:gd name="adj" fmla="val 6061"/>
            </a:avLst>
          </a:prstGeom>
          <a:solidFill>
            <a:srgbClr val="1E4160"/>
          </a:solidFill>
          <a:ln w="12700">
            <a:solidFill>
              <a:srgbClr val="2A5578"/>
            </a:solidFill>
            <a:prstDash val="solid"/>
          </a:ln>
        </p:spPr>
      </p:sp>
      <p:sp>
        <p:nvSpPr>
          <p:cNvPr id="9" name="Text 7"/>
          <p:cNvSpPr txBox="1"/>
          <p:nvPr/>
        </p:nvSpPr>
        <p:spPr>
          <a:xfrm>
            <a:off x="868680" y="2624328"/>
            <a:ext cx="310896" cy="60350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61872" y="2624328"/>
            <a:ext cx="356616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telemetry</a:t>
            </a:r>
            <a:endParaRPr lang="en-US" sz="1350" dirty="0"/>
          </a:p>
        </p:txBody>
      </p:sp>
      <p:sp>
        <p:nvSpPr>
          <p:cNvPr id="11" name="Text 9"/>
          <p:cNvSpPr txBox="1"/>
          <p:nvPr/>
        </p:nvSpPr>
        <p:spPr>
          <a:xfrm>
            <a:off x="4892040" y="2624328"/>
            <a:ext cx="6400800" cy="603504"/>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Usage stats disabled; no analytics, no external fonts or assets</a:t>
            </a:r>
            <a:endParaRPr lang="en-US" sz="1150" dirty="0"/>
          </a:p>
        </p:txBody>
      </p:sp>
      <p:sp>
        <p:nvSpPr>
          <p:cNvPr id="12" name="Shape 10"/>
          <p:cNvSpPr/>
          <p:nvPr/>
        </p:nvSpPr>
        <p:spPr>
          <a:xfrm>
            <a:off x="658368" y="3346704"/>
            <a:ext cx="10881360" cy="603504"/>
          </a:xfrm>
          <a:prstGeom prst="roundRect">
            <a:avLst>
              <a:gd name="adj" fmla="val 6061"/>
            </a:avLst>
          </a:prstGeom>
          <a:solidFill>
            <a:srgbClr val="1E4160"/>
          </a:solidFill>
          <a:ln w="12700">
            <a:solidFill>
              <a:srgbClr val="2A5578"/>
            </a:solidFill>
            <a:prstDash val="solid"/>
          </a:ln>
        </p:spPr>
      </p:sp>
      <p:sp>
        <p:nvSpPr>
          <p:cNvPr id="13" name="Text 11"/>
          <p:cNvSpPr txBox="1"/>
          <p:nvPr/>
        </p:nvSpPr>
        <p:spPr>
          <a:xfrm>
            <a:off x="868680" y="3346704"/>
            <a:ext cx="310896" cy="60350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1261872" y="3346704"/>
            <a:ext cx="356616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Local access only</a:t>
            </a:r>
            <a:endParaRPr lang="en-US" sz="1350" dirty="0"/>
          </a:p>
        </p:txBody>
      </p:sp>
      <p:sp>
        <p:nvSpPr>
          <p:cNvPr id="15" name="Text 13"/>
          <p:cNvSpPr txBox="1"/>
          <p:nvPr/>
        </p:nvSpPr>
        <p:spPr>
          <a:xfrm>
            <a:off x="4892040" y="3346704"/>
            <a:ext cx="6400800" cy="603504"/>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Server bound to 127.0.0.1</a:t>
            </a:r>
            <a:endParaRPr lang="en-US" sz="1150" dirty="0"/>
          </a:p>
        </p:txBody>
      </p:sp>
      <p:sp>
        <p:nvSpPr>
          <p:cNvPr id="16" name="Shape 14"/>
          <p:cNvSpPr/>
          <p:nvPr/>
        </p:nvSpPr>
        <p:spPr>
          <a:xfrm>
            <a:off x="658368" y="4069080"/>
            <a:ext cx="10881360" cy="603504"/>
          </a:xfrm>
          <a:prstGeom prst="roundRect">
            <a:avLst>
              <a:gd name="adj" fmla="val 6061"/>
            </a:avLst>
          </a:prstGeom>
          <a:solidFill>
            <a:srgbClr val="1E4160"/>
          </a:solidFill>
          <a:ln w="12700">
            <a:solidFill>
              <a:srgbClr val="2A5578"/>
            </a:solidFill>
            <a:prstDash val="solid"/>
          </a:ln>
        </p:spPr>
      </p:sp>
      <p:sp>
        <p:nvSpPr>
          <p:cNvPr id="17" name="Text 15"/>
          <p:cNvSpPr txBox="1"/>
          <p:nvPr/>
        </p:nvSpPr>
        <p:spPr>
          <a:xfrm>
            <a:off x="868680" y="4069080"/>
            <a:ext cx="310896" cy="60350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1261872" y="4069080"/>
            <a:ext cx="356616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report persistence</a:t>
            </a:r>
            <a:endParaRPr lang="en-US" sz="1350" dirty="0"/>
          </a:p>
        </p:txBody>
      </p:sp>
      <p:sp>
        <p:nvSpPr>
          <p:cNvPr id="19" name="Text 17"/>
          <p:cNvSpPr txBox="1"/>
          <p:nvPr/>
        </p:nvSpPr>
        <p:spPr>
          <a:xfrm>
            <a:off x="4892040" y="4069080"/>
            <a:ext cx="6400800" cy="603504"/>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Session memory only; Clear session wipes it; report text never logged</a:t>
            </a:r>
            <a:endParaRPr lang="en-US" sz="1150" dirty="0"/>
          </a:p>
        </p:txBody>
      </p:sp>
      <p:sp>
        <p:nvSpPr>
          <p:cNvPr id="20" name="Shape 18"/>
          <p:cNvSpPr/>
          <p:nvPr/>
        </p:nvSpPr>
        <p:spPr>
          <a:xfrm>
            <a:off x="658368" y="4791456"/>
            <a:ext cx="10881360" cy="603504"/>
          </a:xfrm>
          <a:prstGeom prst="roundRect">
            <a:avLst>
              <a:gd name="adj" fmla="val 6061"/>
            </a:avLst>
          </a:prstGeom>
          <a:solidFill>
            <a:srgbClr val="115E52"/>
          </a:solidFill>
          <a:ln w="12700">
            <a:solidFill>
              <a:srgbClr val="2DD4BF"/>
            </a:solidFill>
            <a:prstDash val="solid"/>
          </a:ln>
        </p:spPr>
      </p:sp>
      <p:sp>
        <p:nvSpPr>
          <p:cNvPr id="21" name="Text 19"/>
          <p:cNvSpPr txBox="1"/>
          <p:nvPr/>
        </p:nvSpPr>
        <p:spPr>
          <a:xfrm>
            <a:off x="868680" y="4791456"/>
            <a:ext cx="310896" cy="603504"/>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1261872" y="4791456"/>
            <a:ext cx="356616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Verified, not assumed</a:t>
            </a:r>
            <a:endParaRPr lang="en-US" sz="1350" dirty="0"/>
          </a:p>
        </p:txBody>
      </p:sp>
      <p:sp>
        <p:nvSpPr>
          <p:cNvPr id="23" name="Text 21"/>
          <p:cNvSpPr txBox="1"/>
          <p:nvPr/>
        </p:nvSpPr>
        <p:spPr>
          <a:xfrm>
            <a:off x="4892040" y="4791456"/>
            <a:ext cx="6400800" cy="603504"/>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offline_check.py blocks socket creation, then runs all 5 samples end to end</a:t>
            </a:r>
            <a:endParaRPr lang="en-US" sz="1150" dirty="0"/>
          </a:p>
        </p:txBody>
      </p:sp>
      <p:sp>
        <p:nvSpPr>
          <p:cNvPr id="24" name="Text 22"/>
          <p:cNvSpPr txBox="1"/>
          <p:nvPr/>
        </p:nvSpPr>
        <p:spPr>
          <a:xfrm>
            <a:off x="658368" y="5742432"/>
            <a:ext cx="10881360" cy="457200"/>
          </a:xfrm>
          <a:prstGeom prst="rect">
            <a:avLst/>
          </a:prstGeom>
          <a:noFill/>
          <a:ln/>
        </p:spPr>
        <p:txBody>
          <a:bodyPr wrap="square" lIns="0" tIns="0" rIns="0" bIns="0" rtlCol="0" anchor="ctr"/>
          <a:lstStyle/>
          <a:p>
            <a:pPr indent="0" marL="0">
              <a:buNone/>
            </a:pPr>
            <a:r>
              <a:rPr lang="en-US" sz="1250" i="1" dirty="0">
                <a:solidFill>
                  <a:srgbClr val="94A3B8"/>
                </a:solidFill>
                <a:latin typeface="Calibri" pitchFamily="34" charset="0"/>
                <a:ea typeface="Calibri" pitchFamily="34" charset="-122"/>
                <a:cs typeface="Calibri" pitchFamily="34" charset="-120"/>
              </a:rPr>
              <a:t>Offline processing reduces transmission risk. It does not by itself secure the device or guarantee memory is scrubbed — and we say so in the product.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58368" y="457200"/>
            <a:ext cx="1088136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EVIDENCE</a:t>
            </a:r>
            <a:endParaRPr lang="en-US" sz="1200" dirty="0"/>
          </a:p>
        </p:txBody>
      </p:sp>
      <p:sp>
        <p:nvSpPr>
          <p:cNvPr id="3" name="Text 1"/>
          <p:cNvSpPr txBox="1"/>
          <p:nvPr/>
        </p:nvSpPr>
        <p:spPr>
          <a:xfrm>
            <a:off x="658368" y="804672"/>
            <a:ext cx="10881360" cy="658368"/>
          </a:xfrm>
          <a:prstGeom prst="rect">
            <a:avLst/>
          </a:prstGeom>
          <a:noFill/>
          <a:ln/>
        </p:spPr>
        <p:txBody>
          <a:bodyPr wrap="square" lIns="0" tIns="0" rIns="0" bIns="0" rtlCol="0" anchor="ctr"/>
          <a:lstStyle/>
          <a:p>
            <a:pPr indent="0" marL="0">
              <a:buNone/>
            </a:pPr>
            <a:r>
              <a:rPr lang="en-US" sz="3400" b="1" dirty="0">
                <a:solidFill>
                  <a:srgbClr val="16324F"/>
                </a:solidFill>
                <a:latin typeface="Cambria" pitchFamily="34" charset="0"/>
                <a:ea typeface="Cambria" pitchFamily="34" charset="-122"/>
                <a:cs typeface="Cambria" pitchFamily="34" charset="-120"/>
              </a:rPr>
              <a:t>What is actually verified today</a:t>
            </a:r>
            <a:endParaRPr lang="en-US" sz="3400" dirty="0"/>
          </a:p>
        </p:txBody>
      </p:sp>
      <p:sp>
        <p:nvSpPr>
          <p:cNvPr id="4" name="Shape 2"/>
          <p:cNvSpPr/>
          <p:nvPr/>
        </p:nvSpPr>
        <p:spPr>
          <a:xfrm>
            <a:off x="658368" y="1920240"/>
            <a:ext cx="2487168" cy="1783080"/>
          </a:xfrm>
          <a:prstGeom prst="roundRect">
            <a:avLst>
              <a:gd name="adj" fmla="val 2051"/>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5" name="Text 3"/>
          <p:cNvSpPr txBox="1"/>
          <p:nvPr/>
        </p:nvSpPr>
        <p:spPr>
          <a:xfrm>
            <a:off x="859536" y="2048256"/>
            <a:ext cx="2194560" cy="621792"/>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42</a:t>
            </a:r>
            <a:endParaRPr lang="en-US" sz="3200" dirty="0"/>
          </a:p>
        </p:txBody>
      </p:sp>
      <p:sp>
        <p:nvSpPr>
          <p:cNvPr id="6" name="Text 4"/>
          <p:cNvSpPr txBox="1"/>
          <p:nvPr/>
        </p:nvSpPr>
        <p:spPr>
          <a:xfrm>
            <a:off x="859536" y="2688336"/>
            <a:ext cx="2194560" cy="274320"/>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tests passing</a:t>
            </a:r>
            <a:endParaRPr lang="en-US" sz="1250" dirty="0"/>
          </a:p>
        </p:txBody>
      </p:sp>
      <p:sp>
        <p:nvSpPr>
          <p:cNvPr id="7" name="Text 5"/>
          <p:cNvSpPr txBox="1"/>
          <p:nvPr/>
        </p:nvSpPr>
        <p:spPr>
          <a:xfrm>
            <a:off x="859536" y="2980944"/>
            <a:ext cx="2194560" cy="566928"/>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parser, validation,</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end-to-end, injection</a:t>
            </a:r>
            <a:endParaRPr lang="en-US" sz="1000" dirty="0"/>
          </a:p>
        </p:txBody>
      </p:sp>
      <p:sp>
        <p:nvSpPr>
          <p:cNvPr id="8" name="Shape 6"/>
          <p:cNvSpPr/>
          <p:nvPr/>
        </p:nvSpPr>
        <p:spPr>
          <a:xfrm>
            <a:off x="3419856" y="1920240"/>
            <a:ext cx="2487168" cy="1783080"/>
          </a:xfrm>
          <a:prstGeom prst="roundRect">
            <a:avLst>
              <a:gd name="adj" fmla="val 2051"/>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9" name="Text 7"/>
          <p:cNvSpPr txBox="1"/>
          <p:nvPr/>
        </p:nvSpPr>
        <p:spPr>
          <a:xfrm>
            <a:off x="3621024" y="2048256"/>
            <a:ext cx="2194560" cy="621792"/>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0.9 ms</a:t>
            </a:r>
            <a:endParaRPr lang="en-US" sz="3200" dirty="0"/>
          </a:p>
        </p:txBody>
      </p:sp>
      <p:sp>
        <p:nvSpPr>
          <p:cNvPr id="10" name="Text 8"/>
          <p:cNvSpPr txBox="1"/>
          <p:nvPr/>
        </p:nvSpPr>
        <p:spPr>
          <a:xfrm>
            <a:off x="3621024" y="2688336"/>
            <a:ext cx="2194560" cy="274320"/>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median end-to-end</a:t>
            </a:r>
            <a:endParaRPr lang="en-US" sz="1250" dirty="0"/>
          </a:p>
        </p:txBody>
      </p:sp>
      <p:sp>
        <p:nvSpPr>
          <p:cNvPr id="11" name="Text 9"/>
          <p:cNvSpPr txBox="1"/>
          <p:nvPr/>
        </p:nvSpPr>
        <p:spPr>
          <a:xfrm>
            <a:off x="3621024" y="2980944"/>
            <a:ext cx="2194560" cy="566928"/>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p95 1.2 ms, CPU only</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100 runs, 5 reports</a:t>
            </a:r>
            <a:endParaRPr lang="en-US" sz="1000" dirty="0"/>
          </a:p>
        </p:txBody>
      </p:sp>
      <p:sp>
        <p:nvSpPr>
          <p:cNvPr id="12" name="Shape 10"/>
          <p:cNvSpPr/>
          <p:nvPr/>
        </p:nvSpPr>
        <p:spPr>
          <a:xfrm>
            <a:off x="6181344" y="1920240"/>
            <a:ext cx="2487168" cy="1783080"/>
          </a:xfrm>
          <a:prstGeom prst="roundRect">
            <a:avLst>
              <a:gd name="adj" fmla="val 2051"/>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13" name="Text 11"/>
          <p:cNvSpPr txBox="1"/>
          <p:nvPr/>
        </p:nvSpPr>
        <p:spPr>
          <a:xfrm>
            <a:off x="6382512" y="2048256"/>
            <a:ext cx="2194560" cy="621792"/>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5 / 5</a:t>
            </a:r>
            <a:endParaRPr lang="en-US" sz="3200" dirty="0"/>
          </a:p>
        </p:txBody>
      </p:sp>
      <p:sp>
        <p:nvSpPr>
          <p:cNvPr id="14" name="Text 12"/>
          <p:cNvSpPr txBox="1"/>
          <p:nvPr/>
        </p:nvSpPr>
        <p:spPr>
          <a:xfrm>
            <a:off x="6382512" y="2688336"/>
            <a:ext cx="2194560" cy="274320"/>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samples pass offline</a:t>
            </a:r>
            <a:endParaRPr lang="en-US" sz="1250" dirty="0"/>
          </a:p>
        </p:txBody>
      </p:sp>
      <p:sp>
        <p:nvSpPr>
          <p:cNvPr id="15" name="Text 13"/>
          <p:cNvSpPr txBox="1"/>
          <p:nvPr/>
        </p:nvSpPr>
        <p:spPr>
          <a:xfrm>
            <a:off x="6382512" y="2980944"/>
            <a:ext cx="2194560" cy="566928"/>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sockets blocked,</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0 validation errors</a:t>
            </a:r>
            <a:endParaRPr lang="en-US" sz="1000" dirty="0"/>
          </a:p>
        </p:txBody>
      </p:sp>
      <p:sp>
        <p:nvSpPr>
          <p:cNvPr id="16" name="Shape 14"/>
          <p:cNvSpPr/>
          <p:nvPr/>
        </p:nvSpPr>
        <p:spPr>
          <a:xfrm>
            <a:off x="8942832" y="1920240"/>
            <a:ext cx="2487168" cy="1783080"/>
          </a:xfrm>
          <a:prstGeom prst="roundRect">
            <a:avLst>
              <a:gd name="adj" fmla="val 2051"/>
            </a:avLst>
          </a:prstGeom>
          <a:solidFill>
            <a:srgbClr val="FFFFFF"/>
          </a:solidFill>
          <a:ln w="12700">
            <a:solidFill>
              <a:srgbClr val="E2E8F0"/>
            </a:solidFill>
            <a:prstDash val="solid"/>
          </a:ln>
          <a:effectLst>
            <a:outerShdw sx="100000" sy="100000" kx="0" ky="0" algn="bl" rotWithShape="0" blurRad="152400" dist="25400" dir="5400000">
              <a:srgbClr val="0A1622">
                <a:alpha val="18000"/>
              </a:srgbClr>
            </a:outerShdw>
          </a:effectLst>
        </p:spPr>
      </p:sp>
      <p:sp>
        <p:nvSpPr>
          <p:cNvPr id="17" name="Text 15"/>
          <p:cNvSpPr txBox="1"/>
          <p:nvPr/>
        </p:nvSpPr>
        <p:spPr>
          <a:xfrm>
            <a:off x="9144000" y="2048256"/>
            <a:ext cx="2194560" cy="621792"/>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40</a:t>
            </a:r>
            <a:endParaRPr lang="en-US" sz="3200" dirty="0"/>
          </a:p>
        </p:txBody>
      </p:sp>
      <p:sp>
        <p:nvSpPr>
          <p:cNvPr id="18" name="Text 16"/>
          <p:cNvSpPr txBox="1"/>
          <p:nvPr/>
        </p:nvSpPr>
        <p:spPr>
          <a:xfrm>
            <a:off x="9144000" y="2688336"/>
            <a:ext cx="2194560" cy="274320"/>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glossary terms</a:t>
            </a:r>
            <a:endParaRPr lang="en-US" sz="1250" dirty="0"/>
          </a:p>
        </p:txBody>
      </p:sp>
      <p:sp>
        <p:nvSpPr>
          <p:cNvPr id="19" name="Text 17"/>
          <p:cNvSpPr txBox="1"/>
          <p:nvPr/>
        </p:nvSpPr>
        <p:spPr>
          <a:xfrm>
            <a:off x="9144000" y="2980944"/>
            <a:ext cx="2194560" cy="566928"/>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local, reviewed,</a:t>
            </a:r>
            <a:endParaRPr lang="en-US" sz="1000" dirty="0"/>
          </a:p>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versioned in git</a:t>
            </a:r>
            <a:endParaRPr lang="en-US" sz="1000" dirty="0"/>
          </a:p>
        </p:txBody>
      </p:sp>
      <p:graphicFrame>
        <p:nvGraphicFramePr>
          <p:cNvPr id="20" name="Chart 0" descr=""/>
          <p:cNvGraphicFramePr/>
          <p:nvPr/>
        </p:nvGraphicFramePr>
        <p:xfrm>
          <a:off x="658368" y="3931920"/>
          <a:ext cx="6492240" cy="2212848"/>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7360920" y="3931920"/>
            <a:ext cx="4178808" cy="2212848"/>
          </a:xfrm>
          <a:prstGeom prst="roundRect">
            <a:avLst>
              <a:gd name="adj" fmla="val 1653"/>
            </a:avLst>
          </a:prstGeom>
          <a:solidFill>
            <a:srgbClr val="FFFFFF"/>
          </a:solidFill>
          <a:ln w="12700">
            <a:solidFill>
              <a:srgbClr val="D97706"/>
            </a:solidFill>
            <a:prstDash val="solid"/>
          </a:ln>
          <a:effectLst>
            <a:outerShdw sx="100000" sy="100000" kx="0" ky="0" algn="bl" rotWithShape="0" blurRad="152400" dist="25400" dir="5400000">
              <a:srgbClr val="0A1622">
                <a:alpha val="18000"/>
              </a:srgbClr>
            </a:outerShdw>
          </a:effectLst>
        </p:spPr>
      </p:sp>
      <p:sp>
        <p:nvSpPr>
          <p:cNvPr id="22" name="Text 19"/>
          <p:cNvSpPr txBox="1"/>
          <p:nvPr/>
        </p:nvSpPr>
        <p:spPr>
          <a:xfrm>
            <a:off x="7616952" y="4059936"/>
            <a:ext cx="3657600"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Not yet measured</a:t>
            </a:r>
            <a:endParaRPr lang="en-US" sz="1350" dirty="0"/>
          </a:p>
        </p:txBody>
      </p:sp>
      <p:sp>
        <p:nvSpPr>
          <p:cNvPr id="23" name="Text 20"/>
          <p:cNvSpPr txBox="1"/>
          <p:nvPr/>
        </p:nvSpPr>
        <p:spPr>
          <a:xfrm>
            <a:off x="7616952" y="4389120"/>
            <a:ext cx="3703320"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The MedGemma path is implemented but has never run on real weights — no CUDA device on the build machine.</a:t>
            </a:r>
            <a:endParaRPr lang="en-US" sz="1150" dirty="0"/>
          </a:p>
        </p:txBody>
      </p:sp>
      <p:sp>
        <p:nvSpPr>
          <p:cNvPr id="24" name="Text 21"/>
          <p:cNvSpPr txBox="1"/>
          <p:nvPr/>
        </p:nvSpPr>
        <p:spPr>
          <a:xfrm>
            <a:off x="7616952" y="5047488"/>
            <a:ext cx="3703320" cy="256032"/>
          </a:xfrm>
          <a:prstGeom prst="rect">
            <a:avLst/>
          </a:prstGeom>
          <a:noFill/>
          <a:ln/>
        </p:spPr>
        <p:txBody>
          <a:bodyPr wrap="square" lIns="0" tIns="0" rIns="0" bIns="0" rtlCol="0" anchor="ctr"/>
          <a:lstStyle/>
          <a:p>
            <a:pPr indent="0" marL="0">
              <a:buNone/>
            </a:pPr>
            <a:r>
              <a:rPr lang="en-US" sz="1050" dirty="0">
                <a:solidFill>
                  <a:srgbClr val="16324F"/>
                </a:solidFill>
                <a:latin typeface="Courier New" pitchFamily="34" charset="0"/>
                <a:ea typeface="Courier New" pitchFamily="34" charset="-122"/>
                <a:cs typeface="Courier New" pitchFamily="34" charset="-120"/>
              </a:rPr>
              <a:t>Model latency per report:  ____</a:t>
            </a:r>
            <a:endParaRPr lang="en-US" sz="1050" dirty="0"/>
          </a:p>
        </p:txBody>
      </p:sp>
      <p:sp>
        <p:nvSpPr>
          <p:cNvPr id="25" name="Text 22"/>
          <p:cNvSpPr txBox="1"/>
          <p:nvPr/>
        </p:nvSpPr>
        <p:spPr>
          <a:xfrm>
            <a:off x="7616952" y="5321808"/>
            <a:ext cx="3703320" cy="256032"/>
          </a:xfrm>
          <a:prstGeom prst="rect">
            <a:avLst/>
          </a:prstGeom>
          <a:noFill/>
          <a:ln/>
        </p:spPr>
        <p:txBody>
          <a:bodyPr wrap="square" lIns="0" tIns="0" rIns="0" bIns="0" rtlCol="0" anchor="ctr"/>
          <a:lstStyle/>
          <a:p>
            <a:pPr indent="0" marL="0">
              <a:buNone/>
            </a:pPr>
            <a:r>
              <a:rPr lang="en-US" sz="1050" dirty="0">
                <a:solidFill>
                  <a:srgbClr val="16324F"/>
                </a:solidFill>
                <a:latin typeface="Courier New" pitchFamily="34" charset="0"/>
                <a:ea typeface="Courier New" pitchFamily="34" charset="-122"/>
                <a:cs typeface="Courier New" pitchFamily="34" charset="-120"/>
              </a:rPr>
              <a:t>Peak GPU memory:  ____ GB</a:t>
            </a:r>
            <a:endParaRPr lang="en-US" sz="1050" dirty="0"/>
          </a:p>
        </p:txBody>
      </p:sp>
      <p:sp>
        <p:nvSpPr>
          <p:cNvPr id="26" name="Text 23"/>
          <p:cNvSpPr txBox="1"/>
          <p:nvPr/>
        </p:nvSpPr>
        <p:spPr>
          <a:xfrm>
            <a:off x="7616952" y="5596128"/>
            <a:ext cx="3703320" cy="256032"/>
          </a:xfrm>
          <a:prstGeom prst="rect">
            <a:avLst/>
          </a:prstGeom>
          <a:noFill/>
          <a:ln/>
        </p:spPr>
        <p:txBody>
          <a:bodyPr wrap="square" lIns="0" tIns="0" rIns="0" bIns="0" rtlCol="0" anchor="ctr"/>
          <a:lstStyle/>
          <a:p>
            <a:pPr indent="0" marL="0">
              <a:buNone/>
            </a:pPr>
            <a:r>
              <a:rPr lang="en-US" sz="1050" dirty="0">
                <a:solidFill>
                  <a:srgbClr val="16324F"/>
                </a:solidFill>
                <a:latin typeface="Courier New" pitchFamily="34" charset="0"/>
                <a:ea typeface="Courier New" pitchFamily="34" charset="-122"/>
                <a:cs typeface="Courier New" pitchFamily="34" charset="-120"/>
              </a:rPr>
              <a:t>Statements rejected:  ____ %</a:t>
            </a:r>
            <a:endParaRPr lang="en-US" sz="1050" dirty="0"/>
          </a:p>
        </p:txBody>
      </p:sp>
      <p:sp>
        <p:nvSpPr>
          <p:cNvPr id="27" name="Text 24"/>
          <p:cNvSpPr txBox="1"/>
          <p:nvPr/>
        </p:nvSpPr>
        <p:spPr>
          <a:xfrm>
            <a:off x="7616952" y="5870448"/>
            <a:ext cx="3703320" cy="237744"/>
          </a:xfrm>
          <a:prstGeom prst="rect">
            <a:avLst/>
          </a:prstGeom>
          <a:noFill/>
          <a:ln/>
        </p:spPr>
        <p:txBody>
          <a:bodyPr wrap="square" lIns="0" tIns="0" rIns="0" bIns="0" rtlCol="0" anchor="ctr"/>
          <a:lstStyle/>
          <a:p>
            <a:pPr indent="0" marL="0">
              <a:buNone/>
            </a:pPr>
            <a:r>
              <a:rPr lang="en-US" sz="1000" i="1" dirty="0">
                <a:solidFill>
                  <a:srgbClr val="D97706"/>
                </a:solidFill>
                <a:latin typeface="Calibri" pitchFamily="34" charset="0"/>
                <a:ea typeface="Calibri" pitchFamily="34" charset="-122"/>
                <a:cs typeface="Calibri" pitchFamily="34" charset="-120"/>
              </a:rPr>
              <a:t>Fill these from your first GPU run — do not ship estimates.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658368" y="457200"/>
            <a:ext cx="1088136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THE NVIDIA STORY</a:t>
            </a:r>
            <a:endParaRPr lang="en-US" sz="1200" dirty="0"/>
          </a:p>
        </p:txBody>
      </p:sp>
      <p:sp>
        <p:nvSpPr>
          <p:cNvPr id="3" name="Text 1"/>
          <p:cNvSpPr txBox="1"/>
          <p:nvPr/>
        </p:nvSpPr>
        <p:spPr>
          <a:xfrm>
            <a:off x="658368" y="804672"/>
            <a:ext cx="10881360" cy="658368"/>
          </a:xfrm>
          <a:prstGeom prst="rect">
            <a:avLst/>
          </a:prstGeom>
          <a:noFill/>
          <a:ln/>
        </p:spPr>
        <p:txBody>
          <a:bodyPr wrap="square" lIns="0" tIns="0" rIns="0" bIns="0" rtlCol="0" anchor="ctr"/>
          <a:lstStyle/>
          <a:p>
            <a:pPr indent="0" marL="0">
              <a:buNone/>
            </a:pPr>
            <a:r>
              <a:rPr lang="en-US" sz="3400" b="1" dirty="0">
                <a:solidFill>
                  <a:srgbClr val="16324F"/>
                </a:solidFill>
                <a:latin typeface="Cambria" pitchFamily="34" charset="0"/>
                <a:ea typeface="Cambria" pitchFamily="34" charset="-122"/>
                <a:cs typeface="Cambria" pitchFamily="34" charset="-120"/>
              </a:rPr>
              <a:t>What the GPU buys — and what it must never buy</a:t>
            </a:r>
            <a:endParaRPr lang="en-US" sz="3400" dirty="0"/>
          </a:p>
        </p:txBody>
      </p:sp>
      <p:sp>
        <p:nvSpPr>
          <p:cNvPr id="4" name="Shape 2"/>
          <p:cNvSpPr/>
          <p:nvPr/>
        </p:nvSpPr>
        <p:spPr>
          <a:xfrm>
            <a:off x="658368" y="1874520"/>
            <a:ext cx="5394960" cy="2377440"/>
          </a:xfrm>
          <a:prstGeom prst="roundRect">
            <a:avLst>
              <a:gd name="adj" fmla="val 1538"/>
            </a:avLst>
          </a:prstGeom>
          <a:solidFill>
            <a:srgbClr val="FFFFFF"/>
          </a:solidFill>
          <a:ln w="12700">
            <a:solidFill>
              <a:srgbClr val="0F766E"/>
            </a:solidFill>
            <a:prstDash val="solid"/>
          </a:ln>
          <a:effectLst>
            <a:outerShdw sx="100000" sy="100000" kx="0" ky="0" algn="bl" rotWithShape="0" blurRad="152400" dist="25400" dir="5400000">
              <a:srgbClr val="0A1622">
                <a:alpha val="18000"/>
              </a:srgbClr>
            </a:outerShdw>
          </a:effectLst>
        </p:spPr>
      </p:sp>
      <p:sp>
        <p:nvSpPr>
          <p:cNvPr id="5" name="Text 3"/>
          <p:cNvSpPr txBox="1"/>
          <p:nvPr/>
        </p:nvSpPr>
        <p:spPr>
          <a:xfrm>
            <a:off x="914400" y="2048256"/>
            <a:ext cx="4754880" cy="292608"/>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What local GPU inference unlocks</a:t>
            </a:r>
            <a:endParaRPr lang="en-US" sz="1400" dirty="0"/>
          </a:p>
        </p:txBody>
      </p:sp>
      <p:sp>
        <p:nvSpPr>
          <p:cNvPr id="6" name="Shape 4"/>
          <p:cNvSpPr/>
          <p:nvPr/>
        </p:nvSpPr>
        <p:spPr>
          <a:xfrm>
            <a:off x="932688" y="2587752"/>
            <a:ext cx="146304" cy="146304"/>
          </a:xfrm>
          <a:prstGeom prst="ellipse">
            <a:avLst/>
          </a:prstGeom>
          <a:solidFill>
            <a:srgbClr val="0F766E"/>
          </a:solidFill>
          <a:ln w="12700">
            <a:solidFill>
              <a:srgbClr val="0F766E"/>
            </a:solidFill>
            <a:prstDash val="solid"/>
          </a:ln>
        </p:spPr>
      </p:sp>
      <p:sp>
        <p:nvSpPr>
          <p:cNvPr id="7" name="Text 5"/>
          <p:cNvSpPr txBox="1"/>
          <p:nvPr/>
        </p:nvSpPr>
        <p:spPr>
          <a:xfrm>
            <a:off x="1188720" y="2505456"/>
            <a:ext cx="4709160" cy="310896"/>
          </a:xfrm>
          <a:prstGeom prst="rect">
            <a:avLst/>
          </a:prstGeom>
          <a:noFill/>
          <a:ln/>
        </p:spPr>
        <p:txBody>
          <a:bodyPr wrap="square" lIns="0" tIns="0" rIns="0" bIns="0" rtlCol="0" anchor="ctr"/>
          <a:lstStyle/>
          <a:p>
            <a:pPr indent="0" marL="0">
              <a:buNone/>
            </a:pPr>
            <a:r>
              <a:rPr lang="en-US" sz="1200" dirty="0">
                <a:solidFill>
                  <a:srgbClr val="16324F"/>
                </a:solidFill>
                <a:latin typeface="Calibri" pitchFamily="34" charset="0"/>
                <a:ea typeface="Calibri" pitchFamily="34" charset="-122"/>
                <a:cs typeface="Calibri" pitchFamily="34" charset="-120"/>
              </a:rPr>
              <a:t>Fluent summaries pitched at the patient's reading level</a:t>
            </a:r>
            <a:endParaRPr lang="en-US" sz="1200" dirty="0"/>
          </a:p>
        </p:txBody>
      </p:sp>
      <p:sp>
        <p:nvSpPr>
          <p:cNvPr id="8" name="Shape 6"/>
          <p:cNvSpPr/>
          <p:nvPr/>
        </p:nvSpPr>
        <p:spPr>
          <a:xfrm>
            <a:off x="932688" y="2980944"/>
            <a:ext cx="146304" cy="146304"/>
          </a:xfrm>
          <a:prstGeom prst="ellipse">
            <a:avLst/>
          </a:prstGeom>
          <a:solidFill>
            <a:srgbClr val="0F766E"/>
          </a:solidFill>
          <a:ln w="12700">
            <a:solidFill>
              <a:srgbClr val="0F766E"/>
            </a:solidFill>
            <a:prstDash val="solid"/>
          </a:ln>
        </p:spPr>
      </p:sp>
      <p:sp>
        <p:nvSpPr>
          <p:cNvPr id="9" name="Text 7"/>
          <p:cNvSpPr txBox="1"/>
          <p:nvPr/>
        </p:nvSpPr>
        <p:spPr>
          <a:xfrm>
            <a:off x="1188720" y="2898648"/>
            <a:ext cx="4709160" cy="310896"/>
          </a:xfrm>
          <a:prstGeom prst="rect">
            <a:avLst/>
          </a:prstGeom>
          <a:noFill/>
          <a:ln/>
        </p:spPr>
        <p:txBody>
          <a:bodyPr wrap="square" lIns="0" tIns="0" rIns="0" bIns="0" rtlCol="0" anchor="ctr"/>
          <a:lstStyle/>
          <a:p>
            <a:pPr indent="0" marL="0">
              <a:buNone/>
            </a:pPr>
            <a:r>
              <a:rPr lang="en-US" sz="1200" dirty="0">
                <a:solidFill>
                  <a:srgbClr val="16324F"/>
                </a:solidFill>
                <a:latin typeface="Calibri" pitchFamily="34" charset="0"/>
                <a:ea typeface="Calibri" pitchFamily="34" charset="-122"/>
                <a:cs typeface="Calibri" pitchFamily="34" charset="-120"/>
              </a:rPr>
              <a:t>Free-text sections — impressions, comments — not just tables</a:t>
            </a:r>
            <a:endParaRPr lang="en-US" sz="1200" dirty="0"/>
          </a:p>
        </p:txBody>
      </p:sp>
      <p:sp>
        <p:nvSpPr>
          <p:cNvPr id="10" name="Shape 8"/>
          <p:cNvSpPr/>
          <p:nvPr/>
        </p:nvSpPr>
        <p:spPr>
          <a:xfrm>
            <a:off x="932688" y="3374136"/>
            <a:ext cx="146304" cy="146304"/>
          </a:xfrm>
          <a:prstGeom prst="ellipse">
            <a:avLst/>
          </a:prstGeom>
          <a:solidFill>
            <a:srgbClr val="0F766E"/>
          </a:solidFill>
          <a:ln w="12700">
            <a:solidFill>
              <a:srgbClr val="0F766E"/>
            </a:solidFill>
            <a:prstDash val="solid"/>
          </a:ln>
        </p:spPr>
      </p:sp>
      <p:sp>
        <p:nvSpPr>
          <p:cNvPr id="11" name="Text 9"/>
          <p:cNvSpPr txBox="1"/>
          <p:nvPr/>
        </p:nvSpPr>
        <p:spPr>
          <a:xfrm>
            <a:off x="1188720" y="3291840"/>
            <a:ext cx="4709160" cy="310896"/>
          </a:xfrm>
          <a:prstGeom prst="rect">
            <a:avLst/>
          </a:prstGeom>
          <a:noFill/>
          <a:ln/>
        </p:spPr>
        <p:txBody>
          <a:bodyPr wrap="square" lIns="0" tIns="0" rIns="0" bIns="0" rtlCol="0" anchor="ctr"/>
          <a:lstStyle/>
          <a:p>
            <a:pPr indent="0" marL="0">
              <a:buNone/>
            </a:pPr>
            <a:r>
              <a:rPr lang="en-US" sz="1200" dirty="0">
                <a:solidFill>
                  <a:srgbClr val="16324F"/>
                </a:solidFill>
                <a:latin typeface="Calibri" pitchFamily="34" charset="0"/>
                <a:ea typeface="Calibri" pitchFamily="34" charset="-122"/>
                <a:cs typeface="Calibri" pitchFamily="34" charset="-120"/>
              </a:rPr>
              <a:t>Report layouts the deterministic parser cannot read today</a:t>
            </a:r>
            <a:endParaRPr lang="en-US" sz="1200" dirty="0"/>
          </a:p>
        </p:txBody>
      </p:sp>
      <p:sp>
        <p:nvSpPr>
          <p:cNvPr id="12" name="Shape 10"/>
          <p:cNvSpPr/>
          <p:nvPr/>
        </p:nvSpPr>
        <p:spPr>
          <a:xfrm>
            <a:off x="932688" y="3767328"/>
            <a:ext cx="146304" cy="146304"/>
          </a:xfrm>
          <a:prstGeom prst="ellipse">
            <a:avLst/>
          </a:prstGeom>
          <a:solidFill>
            <a:srgbClr val="0F766E"/>
          </a:solidFill>
          <a:ln w="12700">
            <a:solidFill>
              <a:srgbClr val="0F766E"/>
            </a:solidFill>
            <a:prstDash val="solid"/>
          </a:ln>
        </p:spPr>
      </p:sp>
      <p:sp>
        <p:nvSpPr>
          <p:cNvPr id="13" name="Text 11"/>
          <p:cNvSpPr txBox="1"/>
          <p:nvPr/>
        </p:nvSpPr>
        <p:spPr>
          <a:xfrm>
            <a:off x="1188720" y="3685032"/>
            <a:ext cx="4709160" cy="310896"/>
          </a:xfrm>
          <a:prstGeom prst="rect">
            <a:avLst/>
          </a:prstGeom>
          <a:noFill/>
          <a:ln/>
        </p:spPr>
        <p:txBody>
          <a:bodyPr wrap="square" lIns="0" tIns="0" rIns="0" bIns="0" rtlCol="0" anchor="ctr"/>
          <a:lstStyle/>
          <a:p>
            <a:pPr indent="0" marL="0">
              <a:buNone/>
            </a:pPr>
            <a:r>
              <a:rPr lang="en-US" sz="1200" dirty="0">
                <a:solidFill>
                  <a:srgbClr val="16324F"/>
                </a:solidFill>
                <a:latin typeface="Calibri" pitchFamily="34" charset="0"/>
                <a:ea typeface="Calibri" pitchFamily="34" charset="-122"/>
                <a:cs typeface="Calibri" pitchFamily="34" charset="-120"/>
              </a:rPr>
              <a:t>All of it without a single byte leaving the device</a:t>
            </a:r>
            <a:endParaRPr lang="en-US" sz="1200" dirty="0"/>
          </a:p>
        </p:txBody>
      </p:sp>
      <p:sp>
        <p:nvSpPr>
          <p:cNvPr id="14" name="Shape 12"/>
          <p:cNvSpPr/>
          <p:nvPr/>
        </p:nvSpPr>
        <p:spPr>
          <a:xfrm>
            <a:off x="6309360" y="1874520"/>
            <a:ext cx="5230368" cy="2377440"/>
          </a:xfrm>
          <a:prstGeom prst="roundRect">
            <a:avLst>
              <a:gd name="adj" fmla="val 1538"/>
            </a:avLst>
          </a:prstGeom>
          <a:solidFill>
            <a:srgbClr val="16324F"/>
          </a:solidFill>
          <a:ln w="12700">
            <a:solidFill>
              <a:srgbClr val="16324F"/>
            </a:solidFill>
            <a:prstDash val="solid"/>
          </a:ln>
          <a:effectLst>
            <a:outerShdw sx="100000" sy="100000" kx="0" ky="0" algn="bl" rotWithShape="0" blurRad="152400" dist="25400" dir="5400000">
              <a:srgbClr val="0A1622">
                <a:alpha val="18000"/>
              </a:srgbClr>
            </a:outerShdw>
          </a:effectLst>
        </p:spPr>
      </p:sp>
      <p:sp>
        <p:nvSpPr>
          <p:cNvPr id="15" name="Text 13"/>
          <p:cNvSpPr txBox="1"/>
          <p:nvPr/>
        </p:nvSpPr>
        <p:spPr>
          <a:xfrm>
            <a:off x="6565392" y="2048256"/>
            <a:ext cx="4572000" cy="292608"/>
          </a:xfrm>
          <a:prstGeom prst="rect">
            <a:avLst/>
          </a:prstGeom>
          <a:noFill/>
          <a:ln/>
        </p:spPr>
        <p:txBody>
          <a:bodyPr wrap="square" lIns="0" tIns="0" rIns="0" bIns="0" rtlCol="0" anchor="ctr"/>
          <a:lstStyle/>
          <a:p>
            <a:pPr indent="0" marL="0">
              <a:buNone/>
            </a:pPr>
            <a:r>
              <a:rPr lang="en-US" sz="1400" b="1" dirty="0">
                <a:solidFill>
                  <a:srgbClr val="FCD34D"/>
                </a:solidFill>
                <a:latin typeface="Calibri" pitchFamily="34" charset="0"/>
                <a:ea typeface="Calibri" pitchFamily="34" charset="-122"/>
                <a:cs typeface="Calibri" pitchFamily="34" charset="-120"/>
              </a:rPr>
              <a:t>What it must never buy</a:t>
            </a:r>
            <a:endParaRPr lang="en-US" sz="1400" dirty="0"/>
          </a:p>
        </p:txBody>
      </p:sp>
      <p:sp>
        <p:nvSpPr>
          <p:cNvPr id="16" name="Text 14"/>
          <p:cNvSpPr txBox="1"/>
          <p:nvPr/>
        </p:nvSpPr>
        <p:spPr>
          <a:xfrm>
            <a:off x="6565392" y="2450592"/>
            <a:ext cx="4754880" cy="1097280"/>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A GPU makes wrong answers arrive faster and read more convincingly. That is why the validator sits after the model rather than before it, and why the deterministic path is the floor rather than a fallback of last resort.</a:t>
            </a:r>
            <a:endParaRPr lang="en-US" sz="1250" dirty="0"/>
          </a:p>
        </p:txBody>
      </p:sp>
      <p:sp>
        <p:nvSpPr>
          <p:cNvPr id="17" name="Text 15"/>
          <p:cNvSpPr txBox="1"/>
          <p:nvPr/>
        </p:nvSpPr>
        <p:spPr>
          <a:xfrm>
            <a:off x="6565392" y="3675888"/>
            <a:ext cx="4754880" cy="329184"/>
          </a:xfrm>
          <a:prstGeom prst="rect">
            <a:avLst/>
          </a:prstGeom>
          <a:noFill/>
          <a:ln/>
        </p:spPr>
        <p:txBody>
          <a:bodyPr wrap="square" lIns="0" tIns="0" rIns="0" bIns="0" rtlCol="0" anchor="ctr"/>
          <a:lstStyle/>
          <a:p>
            <a:pPr indent="0" marL="0">
              <a:buNone/>
            </a:pPr>
            <a:r>
              <a:rPr lang="en-US" sz="1600" b="1" dirty="0">
                <a:solidFill>
                  <a:srgbClr val="2DD4BF"/>
                </a:solidFill>
                <a:latin typeface="Cambria" pitchFamily="34" charset="0"/>
                <a:ea typeface="Cambria" pitchFamily="34" charset="-122"/>
                <a:cs typeface="Cambria" pitchFamily="34" charset="-120"/>
              </a:rPr>
              <a:t>Fluency is not evidence.</a:t>
            </a:r>
            <a:endParaRPr lang="en-US" sz="1600" dirty="0"/>
          </a:p>
        </p:txBody>
      </p:sp>
      <p:sp>
        <p:nvSpPr>
          <p:cNvPr id="18" name="Text 16"/>
          <p:cNvSpPr txBox="1"/>
          <p:nvPr/>
        </p:nvSpPr>
        <p:spPr>
          <a:xfrm>
            <a:off x="658368" y="4572000"/>
            <a:ext cx="2743200" cy="27432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Stack</a:t>
            </a:r>
            <a:endParaRPr lang="en-US" sz="1300" dirty="0"/>
          </a:p>
        </p:txBody>
      </p:sp>
      <p:sp>
        <p:nvSpPr>
          <p:cNvPr id="19" name="Shape 17"/>
          <p:cNvSpPr/>
          <p:nvPr/>
        </p:nvSpPr>
        <p:spPr>
          <a:xfrm>
            <a:off x="658368" y="4956048"/>
            <a:ext cx="2487168" cy="585216"/>
          </a:xfrm>
          <a:prstGeom prst="roundRect">
            <a:avLst>
              <a:gd name="adj" fmla="val 6250"/>
            </a:avLst>
          </a:prstGeom>
          <a:solidFill>
            <a:srgbClr val="FFFFFF"/>
          </a:solidFill>
          <a:ln w="12700">
            <a:solidFill>
              <a:srgbClr val="E2E8F0"/>
            </a:solidFill>
            <a:prstDash val="solid"/>
          </a:ln>
        </p:spPr>
      </p:sp>
      <p:sp>
        <p:nvSpPr>
          <p:cNvPr id="20" name="Text 18"/>
          <p:cNvSpPr txBox="1"/>
          <p:nvPr/>
        </p:nvSpPr>
        <p:spPr>
          <a:xfrm>
            <a:off x="822960" y="5010912"/>
            <a:ext cx="2231136" cy="246888"/>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Python 3.10+</a:t>
            </a:r>
            <a:endParaRPr lang="en-US" sz="1200" dirty="0"/>
          </a:p>
        </p:txBody>
      </p:sp>
      <p:sp>
        <p:nvSpPr>
          <p:cNvPr id="21" name="Text 19"/>
          <p:cNvSpPr txBox="1"/>
          <p:nvPr/>
        </p:nvSpPr>
        <p:spPr>
          <a:xfrm>
            <a:off x="822960" y="5257800"/>
            <a:ext cx="2231136"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language</a:t>
            </a:r>
            <a:endParaRPr lang="en-US" sz="1000" dirty="0"/>
          </a:p>
        </p:txBody>
      </p:sp>
      <p:sp>
        <p:nvSpPr>
          <p:cNvPr id="22" name="Shape 20"/>
          <p:cNvSpPr/>
          <p:nvPr/>
        </p:nvSpPr>
        <p:spPr>
          <a:xfrm>
            <a:off x="3419856" y="4956048"/>
            <a:ext cx="2487168" cy="585216"/>
          </a:xfrm>
          <a:prstGeom prst="roundRect">
            <a:avLst>
              <a:gd name="adj" fmla="val 6250"/>
            </a:avLst>
          </a:prstGeom>
          <a:solidFill>
            <a:srgbClr val="FFFFFF"/>
          </a:solidFill>
          <a:ln w="12700">
            <a:solidFill>
              <a:srgbClr val="E2E8F0"/>
            </a:solidFill>
            <a:prstDash val="solid"/>
          </a:ln>
        </p:spPr>
      </p:sp>
      <p:sp>
        <p:nvSpPr>
          <p:cNvPr id="23" name="Text 21"/>
          <p:cNvSpPr txBox="1"/>
          <p:nvPr/>
        </p:nvSpPr>
        <p:spPr>
          <a:xfrm>
            <a:off x="3584448" y="5010912"/>
            <a:ext cx="2231136" cy="246888"/>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Streamlit</a:t>
            </a:r>
            <a:endParaRPr lang="en-US" sz="1200" dirty="0"/>
          </a:p>
        </p:txBody>
      </p:sp>
      <p:sp>
        <p:nvSpPr>
          <p:cNvPr id="24" name="Text 22"/>
          <p:cNvSpPr txBox="1"/>
          <p:nvPr/>
        </p:nvSpPr>
        <p:spPr>
          <a:xfrm>
            <a:off x="3584448" y="5257800"/>
            <a:ext cx="2231136"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interface</a:t>
            </a:r>
            <a:endParaRPr lang="en-US" sz="1000" dirty="0"/>
          </a:p>
        </p:txBody>
      </p:sp>
      <p:sp>
        <p:nvSpPr>
          <p:cNvPr id="25" name="Shape 23"/>
          <p:cNvSpPr/>
          <p:nvPr/>
        </p:nvSpPr>
        <p:spPr>
          <a:xfrm>
            <a:off x="6181344" y="4956048"/>
            <a:ext cx="2487168" cy="585216"/>
          </a:xfrm>
          <a:prstGeom prst="roundRect">
            <a:avLst>
              <a:gd name="adj" fmla="val 6250"/>
            </a:avLst>
          </a:prstGeom>
          <a:solidFill>
            <a:srgbClr val="FFFFFF"/>
          </a:solidFill>
          <a:ln w="12700">
            <a:solidFill>
              <a:srgbClr val="E2E8F0"/>
            </a:solidFill>
            <a:prstDash val="solid"/>
          </a:ln>
        </p:spPr>
      </p:sp>
      <p:sp>
        <p:nvSpPr>
          <p:cNvPr id="26" name="Text 24"/>
          <p:cNvSpPr txBox="1"/>
          <p:nvPr/>
        </p:nvSpPr>
        <p:spPr>
          <a:xfrm>
            <a:off x="6345936" y="5010912"/>
            <a:ext cx="2231136" cy="246888"/>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Pydantic v2</a:t>
            </a:r>
            <a:endParaRPr lang="en-US" sz="1200" dirty="0"/>
          </a:p>
        </p:txBody>
      </p:sp>
      <p:sp>
        <p:nvSpPr>
          <p:cNvPr id="27" name="Text 25"/>
          <p:cNvSpPr txBox="1"/>
          <p:nvPr/>
        </p:nvSpPr>
        <p:spPr>
          <a:xfrm>
            <a:off x="6345936" y="5257800"/>
            <a:ext cx="2231136"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output schemas</a:t>
            </a:r>
            <a:endParaRPr lang="en-US" sz="1000" dirty="0"/>
          </a:p>
        </p:txBody>
      </p:sp>
      <p:sp>
        <p:nvSpPr>
          <p:cNvPr id="28" name="Shape 26"/>
          <p:cNvSpPr/>
          <p:nvPr/>
        </p:nvSpPr>
        <p:spPr>
          <a:xfrm>
            <a:off x="8942832" y="4956048"/>
            <a:ext cx="2487168" cy="585216"/>
          </a:xfrm>
          <a:prstGeom prst="roundRect">
            <a:avLst>
              <a:gd name="adj" fmla="val 6250"/>
            </a:avLst>
          </a:prstGeom>
          <a:solidFill>
            <a:srgbClr val="FFFFFF"/>
          </a:solidFill>
          <a:ln w="12700">
            <a:solidFill>
              <a:srgbClr val="E2E8F0"/>
            </a:solidFill>
            <a:prstDash val="solid"/>
          </a:ln>
        </p:spPr>
      </p:sp>
      <p:sp>
        <p:nvSpPr>
          <p:cNvPr id="29" name="Text 27"/>
          <p:cNvSpPr txBox="1"/>
          <p:nvPr/>
        </p:nvSpPr>
        <p:spPr>
          <a:xfrm>
            <a:off x="9107424" y="5010912"/>
            <a:ext cx="2231136" cy="246888"/>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pypdf</a:t>
            </a:r>
            <a:endParaRPr lang="en-US" sz="1200" dirty="0"/>
          </a:p>
        </p:txBody>
      </p:sp>
      <p:sp>
        <p:nvSpPr>
          <p:cNvPr id="30" name="Text 28"/>
          <p:cNvSpPr txBox="1"/>
          <p:nvPr/>
        </p:nvSpPr>
        <p:spPr>
          <a:xfrm>
            <a:off x="9107424" y="5257800"/>
            <a:ext cx="2231136"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text-PDF extraction</a:t>
            </a:r>
            <a:endParaRPr lang="en-US" sz="1000" dirty="0"/>
          </a:p>
        </p:txBody>
      </p:sp>
      <p:sp>
        <p:nvSpPr>
          <p:cNvPr id="31" name="Shape 29"/>
          <p:cNvSpPr/>
          <p:nvPr/>
        </p:nvSpPr>
        <p:spPr>
          <a:xfrm>
            <a:off x="658368" y="5669280"/>
            <a:ext cx="2487168" cy="585216"/>
          </a:xfrm>
          <a:prstGeom prst="roundRect">
            <a:avLst>
              <a:gd name="adj" fmla="val 6250"/>
            </a:avLst>
          </a:prstGeom>
          <a:solidFill>
            <a:srgbClr val="FFFFFF"/>
          </a:solidFill>
          <a:ln w="12700">
            <a:solidFill>
              <a:srgbClr val="E2E8F0"/>
            </a:solidFill>
            <a:prstDash val="solid"/>
          </a:ln>
        </p:spPr>
      </p:sp>
      <p:sp>
        <p:nvSpPr>
          <p:cNvPr id="32" name="Text 30"/>
          <p:cNvSpPr txBox="1"/>
          <p:nvPr/>
        </p:nvSpPr>
        <p:spPr>
          <a:xfrm>
            <a:off x="822960" y="5724144"/>
            <a:ext cx="2231136" cy="246888"/>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PyTorch + Transformers</a:t>
            </a:r>
            <a:endParaRPr lang="en-US" sz="1200" dirty="0"/>
          </a:p>
        </p:txBody>
      </p:sp>
      <p:sp>
        <p:nvSpPr>
          <p:cNvPr id="33" name="Text 31"/>
          <p:cNvSpPr txBox="1"/>
          <p:nvPr/>
        </p:nvSpPr>
        <p:spPr>
          <a:xfrm>
            <a:off x="822960" y="5971032"/>
            <a:ext cx="2231136"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local inference</a:t>
            </a:r>
            <a:endParaRPr lang="en-US" sz="1000" dirty="0"/>
          </a:p>
        </p:txBody>
      </p:sp>
      <p:sp>
        <p:nvSpPr>
          <p:cNvPr id="34" name="Shape 32"/>
          <p:cNvSpPr/>
          <p:nvPr/>
        </p:nvSpPr>
        <p:spPr>
          <a:xfrm>
            <a:off x="3419856" y="5669280"/>
            <a:ext cx="2487168" cy="585216"/>
          </a:xfrm>
          <a:prstGeom prst="roundRect">
            <a:avLst>
              <a:gd name="adj" fmla="val 6250"/>
            </a:avLst>
          </a:prstGeom>
          <a:solidFill>
            <a:srgbClr val="FFFFFF"/>
          </a:solidFill>
          <a:ln w="12700">
            <a:solidFill>
              <a:srgbClr val="E2E8F0"/>
            </a:solidFill>
            <a:prstDash val="solid"/>
          </a:ln>
        </p:spPr>
      </p:sp>
      <p:sp>
        <p:nvSpPr>
          <p:cNvPr id="35" name="Text 33"/>
          <p:cNvSpPr txBox="1"/>
          <p:nvPr/>
        </p:nvSpPr>
        <p:spPr>
          <a:xfrm>
            <a:off x="3584448" y="5724144"/>
            <a:ext cx="2231136" cy="246888"/>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MedGemma 1.5 4B</a:t>
            </a:r>
            <a:endParaRPr lang="en-US" sz="1200" dirty="0"/>
          </a:p>
        </p:txBody>
      </p:sp>
      <p:sp>
        <p:nvSpPr>
          <p:cNvPr id="36" name="Text 34"/>
          <p:cNvSpPr txBox="1"/>
          <p:nvPr/>
        </p:nvSpPr>
        <p:spPr>
          <a:xfrm>
            <a:off x="3584448" y="5971032"/>
            <a:ext cx="2231136"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open medical model</a:t>
            </a:r>
            <a:endParaRPr lang="en-US" sz="1000" dirty="0"/>
          </a:p>
        </p:txBody>
      </p:sp>
      <p:sp>
        <p:nvSpPr>
          <p:cNvPr id="37" name="Shape 35"/>
          <p:cNvSpPr/>
          <p:nvPr/>
        </p:nvSpPr>
        <p:spPr>
          <a:xfrm>
            <a:off x="6181344" y="5669280"/>
            <a:ext cx="2487168" cy="585216"/>
          </a:xfrm>
          <a:prstGeom prst="roundRect">
            <a:avLst>
              <a:gd name="adj" fmla="val 6250"/>
            </a:avLst>
          </a:prstGeom>
          <a:solidFill>
            <a:srgbClr val="FFFFFF"/>
          </a:solidFill>
          <a:ln w="12700">
            <a:solidFill>
              <a:srgbClr val="E2E8F0"/>
            </a:solidFill>
            <a:prstDash val="solid"/>
          </a:ln>
        </p:spPr>
      </p:sp>
      <p:sp>
        <p:nvSpPr>
          <p:cNvPr id="38" name="Text 36"/>
          <p:cNvSpPr txBox="1"/>
          <p:nvPr/>
        </p:nvSpPr>
        <p:spPr>
          <a:xfrm>
            <a:off x="6345936" y="5724144"/>
            <a:ext cx="2231136" cy="246888"/>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pytest</a:t>
            </a:r>
            <a:endParaRPr lang="en-US" sz="1200" dirty="0"/>
          </a:p>
        </p:txBody>
      </p:sp>
      <p:sp>
        <p:nvSpPr>
          <p:cNvPr id="39" name="Text 37"/>
          <p:cNvSpPr txBox="1"/>
          <p:nvPr/>
        </p:nvSpPr>
        <p:spPr>
          <a:xfrm>
            <a:off x="6345936" y="5971032"/>
            <a:ext cx="2231136"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42 tests</a:t>
            </a:r>
            <a:endParaRPr lang="en-US" sz="1000" dirty="0"/>
          </a:p>
        </p:txBody>
      </p:sp>
      <p:sp>
        <p:nvSpPr>
          <p:cNvPr id="40" name="Shape 38"/>
          <p:cNvSpPr/>
          <p:nvPr/>
        </p:nvSpPr>
        <p:spPr>
          <a:xfrm>
            <a:off x="8942832" y="5669280"/>
            <a:ext cx="2487168" cy="585216"/>
          </a:xfrm>
          <a:prstGeom prst="roundRect">
            <a:avLst>
              <a:gd name="adj" fmla="val 6250"/>
            </a:avLst>
          </a:prstGeom>
          <a:solidFill>
            <a:srgbClr val="FFFFFF"/>
          </a:solidFill>
          <a:ln w="12700">
            <a:solidFill>
              <a:srgbClr val="E2E8F0"/>
            </a:solidFill>
            <a:prstDash val="solid"/>
          </a:ln>
        </p:spPr>
      </p:sp>
      <p:sp>
        <p:nvSpPr>
          <p:cNvPr id="41" name="Text 39"/>
          <p:cNvSpPr txBox="1"/>
          <p:nvPr/>
        </p:nvSpPr>
        <p:spPr>
          <a:xfrm>
            <a:off x="9107424" y="5724144"/>
            <a:ext cx="2231136" cy="246888"/>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NVIDIA CUDA</a:t>
            </a:r>
            <a:endParaRPr lang="en-US" sz="1200" dirty="0"/>
          </a:p>
        </p:txBody>
      </p:sp>
      <p:sp>
        <p:nvSpPr>
          <p:cNvPr id="42" name="Text 40"/>
          <p:cNvSpPr txBox="1"/>
          <p:nvPr/>
        </p:nvSpPr>
        <p:spPr>
          <a:xfrm>
            <a:off x="9107424" y="5971032"/>
            <a:ext cx="2231136" cy="21945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GPU runtime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9966960" y="-1554480"/>
            <a:ext cx="4206240" cy="4206240"/>
          </a:xfrm>
          <a:prstGeom prst="ellipse">
            <a:avLst/>
          </a:prstGeom>
          <a:solidFill>
            <a:srgbClr val="0F766E">
              <a:alpha val="20000"/>
            </a:srgbClr>
          </a:solidFill>
          <a:ln w="12700">
            <a:solidFill>
              <a:srgbClr val="0F766E"/>
            </a:solidFill>
            <a:prstDash val="solid"/>
          </a:ln>
        </p:spPr>
      </p:sp>
      <p:sp>
        <p:nvSpPr>
          <p:cNvPr id="3" name="Text 1"/>
          <p:cNvSpPr txBox="1"/>
          <p:nvPr/>
        </p:nvSpPr>
        <p:spPr>
          <a:xfrm>
            <a:off x="822960" y="1325880"/>
            <a:ext cx="8595360" cy="1645920"/>
          </a:xfrm>
          <a:prstGeom prst="rect">
            <a:avLst/>
          </a:prstGeom>
          <a:noFill/>
          <a:ln/>
        </p:spPr>
        <p:txBody>
          <a:bodyPr wrap="square" lIns="0" tIns="0" rIns="0" bIns="0" rtlCol="0" anchor="ctr"/>
          <a:lstStyle/>
          <a:p>
            <a:pPr indent="0" marL="0">
              <a:lnSpc>
                <a:spcPts val="4700"/>
              </a:lnSpc>
              <a:buNone/>
            </a:pPr>
            <a:r>
              <a:rPr lang="en-US" sz="4000" b="1" dirty="0">
                <a:solidFill>
                  <a:srgbClr val="FFFFFF"/>
                </a:solidFill>
                <a:latin typeface="Cambria" pitchFamily="34" charset="0"/>
                <a:ea typeface="Cambria" pitchFamily="34" charset="-122"/>
                <a:cs typeface="Cambria" pitchFamily="34" charset="-120"/>
              </a:rPr>
              <a:t>Disconnect the internet.</a:t>
            </a:r>
            <a:endParaRPr lang="en-US" sz="4000" dirty="0"/>
          </a:p>
          <a:p>
            <a:pPr indent="0" marL="0">
              <a:lnSpc>
                <a:spcPts val="4700"/>
              </a:lnSpc>
              <a:buNone/>
            </a:pPr>
            <a:r>
              <a:rPr lang="en-US" sz="4000" b="1" dirty="0">
                <a:solidFill>
                  <a:srgbClr val="FFFFFF"/>
                </a:solidFill>
                <a:latin typeface="Cambria" pitchFamily="34" charset="0"/>
                <a:ea typeface="Cambria" pitchFamily="34" charset="-122"/>
                <a:cs typeface="Cambria" pitchFamily="34" charset="-120"/>
              </a:rPr>
              <a:t>Understand the report.</a:t>
            </a:r>
            <a:endParaRPr lang="en-US" sz="4000" dirty="0"/>
          </a:p>
        </p:txBody>
      </p:sp>
      <p:sp>
        <p:nvSpPr>
          <p:cNvPr id="4" name="Text 2"/>
          <p:cNvSpPr txBox="1"/>
          <p:nvPr/>
        </p:nvSpPr>
        <p:spPr>
          <a:xfrm>
            <a:off x="822960" y="3017520"/>
            <a:ext cx="8595360" cy="347472"/>
          </a:xfrm>
          <a:prstGeom prst="rect">
            <a:avLst/>
          </a:prstGeom>
          <a:noFill/>
          <a:ln/>
        </p:spPr>
        <p:txBody>
          <a:bodyPr wrap="square" lIns="0" tIns="0" rIns="0" bIns="0" rtlCol="0" anchor="ctr"/>
          <a:lstStyle/>
          <a:p>
            <a:pPr indent="0" marL="0">
              <a:buNone/>
            </a:pPr>
            <a:r>
              <a:rPr lang="en-US" sz="1500" dirty="0">
                <a:solidFill>
                  <a:srgbClr val="2DD4BF"/>
                </a:solidFill>
                <a:latin typeface="Calibri" pitchFamily="34" charset="0"/>
                <a:ea typeface="Calibri" pitchFamily="34" charset="-122"/>
                <a:cs typeface="Calibri" pitchFamily="34" charset="-120"/>
              </a:rPr>
              <a:t>That is the whole demo. It takes eleven seconds and it cannot be faked.</a:t>
            </a:r>
            <a:endParaRPr lang="en-US" sz="1500" dirty="0"/>
          </a:p>
        </p:txBody>
      </p:sp>
      <p:sp>
        <p:nvSpPr>
          <p:cNvPr id="5" name="Text 3"/>
          <p:cNvSpPr txBox="1"/>
          <p:nvPr/>
        </p:nvSpPr>
        <p:spPr>
          <a:xfrm>
            <a:off x="822960" y="3794760"/>
            <a:ext cx="2560320" cy="566928"/>
          </a:xfrm>
          <a:prstGeom prst="rect">
            <a:avLst/>
          </a:prstGeom>
          <a:noFill/>
          <a:ln/>
        </p:spPr>
        <p:txBody>
          <a:bodyPr wrap="square" lIns="0" tIns="0" rIns="0" bIns="0" rtlCol="0" anchor="ctr"/>
          <a:lstStyle/>
          <a:p>
            <a:pPr indent="0" marL="0">
              <a:buNone/>
            </a:pPr>
            <a:r>
              <a:rPr lang="en-US" sz="1250" b="1" dirty="0">
                <a:solidFill>
                  <a:srgbClr val="2DD4BF"/>
                </a:solidFill>
                <a:latin typeface="Calibri" pitchFamily="34" charset="0"/>
                <a:ea typeface="Calibri" pitchFamily="34" charset="-122"/>
                <a:cs typeface="Calibri" pitchFamily="34" charset="-120"/>
              </a:rPr>
              <a:t>Working today</a:t>
            </a:r>
            <a:endParaRPr lang="en-US" sz="1250" dirty="0"/>
          </a:p>
        </p:txBody>
      </p:sp>
      <p:sp>
        <p:nvSpPr>
          <p:cNvPr id="6" name="Text 4"/>
          <p:cNvSpPr txBox="1"/>
          <p:nvPr/>
        </p:nvSpPr>
        <p:spPr>
          <a:xfrm>
            <a:off x="3474720" y="3794760"/>
            <a:ext cx="7863840" cy="566928"/>
          </a:xfrm>
          <a:prstGeom prst="rect">
            <a:avLst/>
          </a:prstGeom>
          <a:noFill/>
          <a:ln/>
        </p:spPr>
        <p:txBody>
          <a:bodyPr wrap="square" lIns="0" tIns="0" rIns="0" bIns="0" rtlCol="0" anchor="ctr"/>
          <a:lstStyle/>
          <a:p>
            <a:pPr indent="0" marL="0">
              <a:buNone/>
            </a:pPr>
            <a:r>
              <a:rPr lang="en-US" sz="1250" dirty="0">
                <a:solidFill>
                  <a:srgbClr val="CBD5E1"/>
                </a:solidFill>
                <a:latin typeface="Calibri" pitchFamily="34" charset="0"/>
                <a:ea typeface="Calibri" pitchFamily="34" charset="-122"/>
                <a:cs typeface="Calibri" pitchFamily="34" charset="-120"/>
              </a:rPr>
              <a:t>Full pipeline, 42 tests green, offline check passing on 5 synthetic reports</a:t>
            </a:r>
            <a:endParaRPr lang="en-US" sz="1250" dirty="0"/>
          </a:p>
        </p:txBody>
      </p:sp>
      <p:sp>
        <p:nvSpPr>
          <p:cNvPr id="7" name="Text 5"/>
          <p:cNvSpPr txBox="1"/>
          <p:nvPr/>
        </p:nvSpPr>
        <p:spPr>
          <a:xfrm>
            <a:off x="822960" y="4526280"/>
            <a:ext cx="2560320" cy="566928"/>
          </a:xfrm>
          <a:prstGeom prst="rect">
            <a:avLst/>
          </a:prstGeom>
          <a:noFill/>
          <a:ln/>
        </p:spPr>
        <p:txBody>
          <a:bodyPr wrap="square" lIns="0" tIns="0" rIns="0" bIns="0" rtlCol="0" anchor="ctr"/>
          <a:lstStyle/>
          <a:p>
            <a:pPr indent="0" marL="0">
              <a:buNone/>
            </a:pPr>
            <a:r>
              <a:rPr lang="en-US" sz="1250" b="1" dirty="0">
                <a:solidFill>
                  <a:srgbClr val="2DD4BF"/>
                </a:solidFill>
                <a:latin typeface="Calibri" pitchFamily="34" charset="0"/>
                <a:ea typeface="Calibri" pitchFamily="34" charset="-122"/>
                <a:cs typeface="Calibri" pitchFamily="34" charset="-120"/>
              </a:rPr>
              <a:t>Next</a:t>
            </a:r>
            <a:endParaRPr lang="en-US" sz="1250" dirty="0"/>
          </a:p>
        </p:txBody>
      </p:sp>
      <p:sp>
        <p:nvSpPr>
          <p:cNvPr id="8" name="Text 6"/>
          <p:cNvSpPr txBox="1"/>
          <p:nvPr/>
        </p:nvSpPr>
        <p:spPr>
          <a:xfrm>
            <a:off x="3474720" y="4526280"/>
            <a:ext cx="7863840" cy="566928"/>
          </a:xfrm>
          <a:prstGeom prst="rect">
            <a:avLst/>
          </a:prstGeom>
          <a:noFill/>
          <a:ln/>
        </p:spPr>
        <p:txBody>
          <a:bodyPr wrap="square" lIns="0" tIns="0" rIns="0" bIns="0" rtlCol="0" anchor="ctr"/>
          <a:lstStyle/>
          <a:p>
            <a:pPr indent="0" marL="0">
              <a:buNone/>
            </a:pPr>
            <a:r>
              <a:rPr lang="en-US" sz="1250" dirty="0">
                <a:solidFill>
                  <a:srgbClr val="CBD5E1"/>
                </a:solidFill>
                <a:latin typeface="Calibri" pitchFamily="34" charset="0"/>
                <a:ea typeface="Calibri" pitchFamily="34" charset="-122"/>
                <a:cs typeface="Calibri" pitchFamily="34" charset="-120"/>
              </a:rPr>
              <a:t>First MedGemma run on CUDA; publish real latency and peak VRAM, including failures</a:t>
            </a:r>
            <a:endParaRPr lang="en-US" sz="1250" dirty="0"/>
          </a:p>
        </p:txBody>
      </p:sp>
      <p:sp>
        <p:nvSpPr>
          <p:cNvPr id="9" name="Text 7"/>
          <p:cNvSpPr txBox="1"/>
          <p:nvPr/>
        </p:nvSpPr>
        <p:spPr>
          <a:xfrm>
            <a:off x="822960" y="5257800"/>
            <a:ext cx="2560320" cy="566928"/>
          </a:xfrm>
          <a:prstGeom prst="rect">
            <a:avLst/>
          </a:prstGeom>
          <a:noFill/>
          <a:ln/>
        </p:spPr>
        <p:txBody>
          <a:bodyPr wrap="square" lIns="0" tIns="0" rIns="0" bIns="0" rtlCol="0" anchor="ctr"/>
          <a:lstStyle/>
          <a:p>
            <a:pPr indent="0" marL="0">
              <a:buNone/>
            </a:pPr>
            <a:r>
              <a:rPr lang="en-US" sz="1250" b="1" dirty="0">
                <a:solidFill>
                  <a:srgbClr val="2DD4BF"/>
                </a:solidFill>
                <a:latin typeface="Calibri" pitchFamily="34" charset="0"/>
                <a:ea typeface="Calibri" pitchFamily="34" charset="-122"/>
                <a:cs typeface="Calibri" pitchFamily="34" charset="-120"/>
              </a:rPr>
              <a:t>Before any real use</a:t>
            </a:r>
            <a:endParaRPr lang="en-US" sz="1250" dirty="0"/>
          </a:p>
        </p:txBody>
      </p:sp>
      <p:sp>
        <p:nvSpPr>
          <p:cNvPr id="10" name="Text 8"/>
          <p:cNvSpPr txBox="1"/>
          <p:nvPr/>
        </p:nvSpPr>
        <p:spPr>
          <a:xfrm>
            <a:off x="3474720" y="5257800"/>
            <a:ext cx="7863840" cy="566928"/>
          </a:xfrm>
          <a:prstGeom prst="rect">
            <a:avLst/>
          </a:prstGeom>
          <a:noFill/>
          <a:ln/>
        </p:spPr>
        <p:txBody>
          <a:bodyPr wrap="square" lIns="0" tIns="0" rIns="0" bIns="0" rtlCol="0" anchor="ctr"/>
          <a:lstStyle/>
          <a:p>
            <a:pPr indent="0" marL="0">
              <a:buNone/>
            </a:pPr>
            <a:r>
              <a:rPr lang="en-US" sz="1250" dirty="0">
                <a:solidFill>
                  <a:srgbClr val="CBD5E1"/>
                </a:solidFill>
                <a:latin typeface="Calibri" pitchFamily="34" charset="0"/>
                <a:ea typeface="Calibri" pitchFamily="34" charset="-122"/>
                <a:cs typeface="Calibri" pitchFamily="34" charset="-120"/>
              </a:rPr>
              <a:t>Clinician review of the 40-term glossary and the safety wording</a:t>
            </a:r>
            <a:endParaRPr lang="en-US" sz="1250" dirty="0"/>
          </a:p>
        </p:txBody>
      </p:sp>
      <p:sp>
        <p:nvSpPr>
          <p:cNvPr id="11" name="Shape 9"/>
          <p:cNvSpPr/>
          <p:nvPr/>
        </p:nvSpPr>
        <p:spPr>
          <a:xfrm>
            <a:off x="822960" y="6126480"/>
            <a:ext cx="402336" cy="237744"/>
          </a:xfrm>
          <a:prstGeom prst="roundRect">
            <a:avLst>
              <a:gd name="adj" fmla="val 23077"/>
            </a:avLst>
          </a:prstGeom>
          <a:solidFill>
            <a:srgbClr val="2DD4BF"/>
          </a:solidFill>
          <a:ln w="6350">
            <a:solidFill>
              <a:srgbClr val="2DD4BF"/>
            </a:solidFill>
            <a:prstDash val="solid"/>
          </a:ln>
        </p:spPr>
      </p:sp>
      <p:sp>
        <p:nvSpPr>
          <p:cNvPr id="12" name="Text 10"/>
          <p:cNvSpPr txBox="1"/>
          <p:nvPr/>
        </p:nvSpPr>
        <p:spPr>
          <a:xfrm>
            <a:off x="822960" y="6126480"/>
            <a:ext cx="402336" cy="237744"/>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S1</a:t>
            </a:r>
            <a:endParaRPr lang="en-US" sz="1000" dirty="0"/>
          </a:p>
        </p:txBody>
      </p:sp>
      <p:sp>
        <p:nvSpPr>
          <p:cNvPr id="13" name="Shape 11"/>
          <p:cNvSpPr/>
          <p:nvPr/>
        </p:nvSpPr>
        <p:spPr>
          <a:xfrm>
            <a:off x="1353312" y="6126480"/>
            <a:ext cx="402336" cy="237744"/>
          </a:xfrm>
          <a:prstGeom prst="roundRect">
            <a:avLst>
              <a:gd name="adj" fmla="val 23077"/>
            </a:avLst>
          </a:prstGeom>
          <a:solidFill>
            <a:srgbClr val="2DD4BF"/>
          </a:solidFill>
          <a:ln w="6350">
            <a:solidFill>
              <a:srgbClr val="2DD4BF"/>
            </a:solidFill>
            <a:prstDash val="solid"/>
          </a:ln>
        </p:spPr>
      </p:sp>
      <p:sp>
        <p:nvSpPr>
          <p:cNvPr id="14" name="Text 12"/>
          <p:cNvSpPr txBox="1"/>
          <p:nvPr/>
        </p:nvSpPr>
        <p:spPr>
          <a:xfrm>
            <a:off x="1353312" y="6126480"/>
            <a:ext cx="402336" cy="237744"/>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S3</a:t>
            </a:r>
            <a:endParaRPr lang="en-US" sz="1000" dirty="0"/>
          </a:p>
        </p:txBody>
      </p:sp>
      <p:sp>
        <p:nvSpPr>
          <p:cNvPr id="15" name="Shape 13"/>
          <p:cNvSpPr/>
          <p:nvPr/>
        </p:nvSpPr>
        <p:spPr>
          <a:xfrm>
            <a:off x="1883664" y="6126480"/>
            <a:ext cx="402336" cy="237744"/>
          </a:xfrm>
          <a:prstGeom prst="roundRect">
            <a:avLst>
              <a:gd name="adj" fmla="val 23077"/>
            </a:avLst>
          </a:prstGeom>
          <a:solidFill>
            <a:srgbClr val="2DD4BF"/>
          </a:solidFill>
          <a:ln w="6350">
            <a:solidFill>
              <a:srgbClr val="2DD4BF"/>
            </a:solidFill>
            <a:prstDash val="solid"/>
          </a:ln>
        </p:spPr>
      </p:sp>
      <p:sp>
        <p:nvSpPr>
          <p:cNvPr id="16" name="Text 14"/>
          <p:cNvSpPr txBox="1"/>
          <p:nvPr/>
        </p:nvSpPr>
        <p:spPr>
          <a:xfrm>
            <a:off x="1883664" y="6126480"/>
            <a:ext cx="402336" cy="237744"/>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S7</a:t>
            </a:r>
            <a:endParaRPr lang="en-US" sz="1000" dirty="0"/>
          </a:p>
        </p:txBody>
      </p:sp>
      <p:sp>
        <p:nvSpPr>
          <p:cNvPr id="17" name="Text 15"/>
          <p:cNvSpPr txBox="1"/>
          <p:nvPr/>
        </p:nvSpPr>
        <p:spPr>
          <a:xfrm>
            <a:off x="2468880" y="6126480"/>
            <a:ext cx="5486400" cy="237744"/>
          </a:xfrm>
          <a:prstGeom prst="rect">
            <a:avLst/>
          </a:prstGeom>
          <a:noFill/>
          <a:ln/>
        </p:spPr>
        <p:txBody>
          <a:bodyPr wrap="square" lIns="0" tIns="0" rIns="0" bIns="0"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PlainMed — clear reports, private by design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PlainMed - Pitch Deck</dc:title>
  <dc:subject>PptxGenJS Presentation</dc:subject>
  <dc:creator>PlainMed</dc:creator>
  <cp:lastModifiedBy>PlainMed</cp:lastModifiedBy>
  <cp:revision>1</cp:revision>
  <dcterms:created xsi:type="dcterms:W3CDTF">2026-08-28T09:26:52Z</dcterms:created>
  <dcterms:modified xsi:type="dcterms:W3CDTF">2026-08-28T09:26:52Z</dcterms:modified>
</cp:coreProperties>
</file>