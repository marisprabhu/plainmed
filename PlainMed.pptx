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9" r:id="rId12"/>
  </p:sldIdLst>
  <p:sldSz cx="12192000" cy="6858000"/>
  <p:notesSz cx="6858000" cy="12192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nter" panose="02000503000000020004" pitchFamily="2" charset="0"/>
      <p:regular r:id="rId18"/>
      <p:bold r:id="rId19"/>
      <p:italic r:id="rId20"/>
      <p:boldItalic r:id="rId21"/>
    </p:embeddedFont>
    <p:embeddedFont>
      <p:font typeface="Inter Bold" panose="02000503000000020004" pitchFamily="2" charset="0"/>
      <p:bold r:id="rId22"/>
    </p:embeddedFont>
    <p:embeddedFont>
      <p:font typeface="Roboto Slab Medium" pitchFamily="2" charset="0"/>
      <p:regular r:id="rId23"/>
    </p:embeddedFont>
    <p:embeddedFont>
      <p:font typeface="Varela Round" panose="00000500000000000000" pitchFamily="2" charset="-79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289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43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16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325247" y="806238"/>
            <a:ext cx="6009728" cy="442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PlainMed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2325247" y="1295485"/>
            <a:ext cx="6009728" cy="22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Clear reports. Private by design.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52968" y="1932776"/>
            <a:ext cx="10565293" cy="1202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600" dirty="0" err="1">
                <a:solidFill>
                  <a:srgbClr val="15213F"/>
                </a:solidFill>
                <a:ea typeface="Varela Round" pitchFamily="34" charset="-122"/>
                <a:cs typeface="Varela Round" pitchFamily="34" charset="-120"/>
              </a:rPr>
              <a:t>PlainMed</a:t>
            </a:r>
            <a:r>
              <a:rPr lang="en-US" sz="1600" dirty="0">
                <a:solidFill>
                  <a:srgbClr val="15213F"/>
                </a:solidFill>
                <a:ea typeface="Varela Round" pitchFamily="34" charset="-122"/>
                <a:cs typeface="Varela Round" pitchFamily="34" charset="-120"/>
              </a:rPr>
              <a:t> explains lab reports in plain language, with every sentence linked to the report line that supports it. Numbers come from a deterministic parser, never the AI, and identifiers are removed before the model sees anything. Google </a:t>
            </a:r>
            <a:r>
              <a:rPr lang="en-US" sz="1600" dirty="0" err="1">
                <a:solidFill>
                  <a:srgbClr val="15213F"/>
                </a:solidFill>
                <a:ea typeface="Varela Round" pitchFamily="34" charset="-122"/>
                <a:cs typeface="Varela Round" pitchFamily="34" charset="-120"/>
              </a:rPr>
              <a:t>MedGemma</a:t>
            </a:r>
            <a:r>
              <a:rPr lang="en-US" sz="1600" dirty="0">
                <a:solidFill>
                  <a:srgbClr val="15213F"/>
                </a:solidFill>
                <a:ea typeface="Varela Round" pitchFamily="34" charset="-122"/>
                <a:cs typeface="Varela Round" pitchFamily="34" charset="-120"/>
              </a:rPr>
              <a:t> on NVIDIA GPUs. Nothing stored. Launching in India, five languages.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428550" y="3142978"/>
            <a:ext cx="644013" cy="966093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29760" y="3505226"/>
            <a:ext cx="241492" cy="2414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56621" y="3519604"/>
            <a:ext cx="1892495" cy="2213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Google MedGemma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8402727" y="4287533"/>
            <a:ext cx="644013" cy="966093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03937" y="4649781"/>
            <a:ext cx="241492" cy="2414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68747" y="4688174"/>
            <a:ext cx="1960268" cy="2213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NVIDIA TensorRT-LLM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8402543" y="5436324"/>
            <a:ext cx="644013" cy="966093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03753" y="5798572"/>
            <a:ext cx="241492" cy="2414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368748" y="5796998"/>
            <a:ext cx="1960268" cy="2213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Launching in India</a:t>
            </a:r>
            <a:endParaRPr lang="en-US" sz="13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2F22A6E-3BD7-A226-1665-8E98B78065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114" y="341180"/>
            <a:ext cx="1545063" cy="1545063"/>
          </a:xfrm>
          <a:prstGeom prst="rect">
            <a:avLst/>
          </a:prstGeom>
        </p:spPr>
      </p:pic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34BE2B4B-AE2F-31F9-D3B8-C5421F1BEF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1008" y="3142978"/>
            <a:ext cx="5804795" cy="32047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571" y="520996"/>
            <a:ext cx="1279295" cy="275233"/>
          </a:xfrm>
          <a:prstGeom prst="roundRect">
            <a:avLst>
              <a:gd name="adj" fmla="val 22115"/>
            </a:avLst>
          </a:prstGeom>
          <a:solidFill>
            <a:srgbClr val="D6DEF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783213" y="575268"/>
            <a:ext cx="1671596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4555" y="1287973"/>
            <a:ext cx="10581613" cy="498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A patient can read every word and understand nothing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84085" y="2030626"/>
            <a:ext cx="5330791" cy="3224113"/>
          </a:xfrm>
          <a:prstGeom prst="roundRect">
            <a:avLst>
              <a:gd name="adj" fmla="val 4045"/>
            </a:avLst>
          </a:prstGeom>
          <a:solidFill>
            <a:srgbClr val="1A3171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Text 4"/>
          <p:cNvSpPr/>
          <p:nvPr/>
        </p:nvSpPr>
        <p:spPr>
          <a:xfrm>
            <a:off x="765155" y="2193642"/>
            <a:ext cx="4968651" cy="249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The web makes it worse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65155" y="2605698"/>
            <a:ext cx="4968651" cy="110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Search results strip away the context of this specific report — this value, this range, this lab. The worst-case interpretation wins the click, and patients arrive at appointments anxious about the wrong things.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32666" y="2193642"/>
            <a:ext cx="5069852" cy="249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Chatbots can't show their source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232666" y="2605698"/>
            <a:ext cx="5069852" cy="110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Uploading to a general-purpose AI produces an answer no one can verify. You cannot check a claim you cannot trace — and the most sensitive document a person owns may leave their device, be cached, and train a model.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32666" y="3870042"/>
            <a:ext cx="5069852" cy="2490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The one thing that matters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232666" y="4282098"/>
            <a:ext cx="5069852" cy="825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Neither search nor chatbot can do what a patient actually needs: </a:t>
            </a:r>
            <a:r>
              <a:rPr lang="en-US" sz="1400" b="1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show its source.</a:t>
            </a:r>
            <a:r>
              <a:rPr lang="en-US" sz="14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So patients arrive without the questions that would actually help them.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60E350-FEA6-5D52-0BBF-C64302016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799" y="76149"/>
            <a:ext cx="1101259" cy="11012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041" y="441623"/>
            <a:ext cx="1131264" cy="244475"/>
          </a:xfrm>
          <a:prstGeom prst="roundRect">
            <a:avLst>
              <a:gd name="adj" fmla="val 22131"/>
            </a:avLst>
          </a:prstGeom>
          <a:solidFill>
            <a:srgbClr val="D6DEF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901578" y="489844"/>
            <a:ext cx="1547774" cy="148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05042" y="858491"/>
            <a:ext cx="10581613" cy="442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Photograph it. Check it. Understand it.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41" y="1615976"/>
            <a:ext cx="5290807" cy="6440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5970" y="2388791"/>
            <a:ext cx="4968949" cy="22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1 · Scan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65970" y="2687439"/>
            <a:ext cx="4968949" cy="463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Photograph the paper report on any phone. No app install required for the first step.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615976"/>
            <a:ext cx="5290807" cy="6440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56776" y="2388791"/>
            <a:ext cx="4968949" cy="22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2 · Check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256776" y="2687439"/>
            <a:ext cx="4968949" cy="463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See exactly what was read by the OCR. Correct anything before the model ever sees a value.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41" y="3312120"/>
            <a:ext cx="5290807" cy="64402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5970" y="4084935"/>
            <a:ext cx="4968949" cy="22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3 · Understand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965970" y="4383584"/>
            <a:ext cx="4968949" cy="463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Plain language explanation — every claim source-linked to the line in the original report.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312120"/>
            <a:ext cx="5290807" cy="64402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56776" y="4084935"/>
            <a:ext cx="4968949" cy="22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4 · Ask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256776" y="4383584"/>
            <a:ext cx="4968949" cy="463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Walk away with specific, informed questions to take to your clinician — not generic fears.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805041" y="5153124"/>
            <a:ext cx="10581613" cy="1020663"/>
          </a:xfrm>
          <a:prstGeom prst="roundRect">
            <a:avLst>
              <a:gd name="adj" fmla="val 6626"/>
            </a:avLst>
          </a:prstGeom>
          <a:solidFill>
            <a:srgbClr val="D6DEF5"/>
          </a:solidFill>
          <a:ln/>
        </p:spPr>
        <p:txBody>
          <a:bodyPr/>
          <a:lstStyle/>
          <a:p>
            <a:endParaRPr lang="en-BE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970" y="5339953"/>
            <a:ext cx="201211" cy="16093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8109" y="5322094"/>
            <a:ext cx="9897616" cy="695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Nothing is explained until a person confirms what was read.</a:t>
            </a:r>
            <a:r>
              <a:rPr lang="en-US" sz="1250" dirty="0">
                <a:solidFill>
                  <a:srgbClr val="000000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Confidence tells you the OCR was sure — it does not tell you it was right. The review step is mandatory, not conditional. It is also where a misread digit gets caught by the one person who can see the paper.</a:t>
            </a:r>
            <a:endParaRPr lang="en-US" sz="12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841FCDA-DD1A-97EF-0B28-8DA26F5C7A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66799" y="76149"/>
            <a:ext cx="1101259" cy="11012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1391" y="614844"/>
            <a:ext cx="1269571" cy="260052"/>
          </a:xfrm>
          <a:prstGeom prst="roundRect">
            <a:avLst>
              <a:gd name="adj" fmla="val 22105"/>
            </a:avLst>
          </a:prstGeom>
          <a:solidFill>
            <a:srgbClr val="D6DEF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913980" y="666140"/>
            <a:ext cx="1673977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THE CORE IDEA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05041" y="1228704"/>
            <a:ext cx="10581613" cy="940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A generated 13.5 is indistinguishable from a hallucinated 13.5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8691" y="2270396"/>
            <a:ext cx="10581613" cy="506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So the language model is never allowed to produce one. Three strictly separated components each own exactly one job — and cannot override each other.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98691" y="2940122"/>
            <a:ext cx="10581613" cy="1891407"/>
          </a:xfrm>
          <a:prstGeom prst="roundRect">
            <a:avLst>
              <a:gd name="adj" fmla="val 3799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7" name="Shape 5"/>
          <p:cNvSpPr/>
          <p:nvPr/>
        </p:nvSpPr>
        <p:spPr>
          <a:xfrm>
            <a:off x="805041" y="2946472"/>
            <a:ext cx="3522971" cy="1878707"/>
          </a:xfrm>
          <a:custGeom>
            <a:avLst/>
            <a:gdLst/>
            <a:ahLst/>
            <a:cxnLst/>
            <a:rect l="l" t="t" r="r" b="b"/>
            <a:pathLst>
              <a:path w="3522971" h="1878707">
                <a:moveTo>
                  <a:pt x="59880" y="0"/>
                </a:moveTo>
                <a:lnTo>
                  <a:pt x="3522971" y="0"/>
                </a:lnTo>
                <a:lnTo>
                  <a:pt x="3522971" y="1878707"/>
                </a:lnTo>
                <a:lnTo>
                  <a:pt x="59880" y="1878707"/>
                </a:lnTo>
                <a:arcTo wR="59880" hR="59882" stAng="5400000" swAng="5400000"/>
                <a:lnTo>
                  <a:pt x="0" y="59882"/>
                </a:lnTo>
                <a:arcTo wR="59880" hR="59882" stAng="10800000" swAng="5400000"/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8" name="Text 6"/>
          <p:cNvSpPr/>
          <p:nvPr/>
        </p:nvSpPr>
        <p:spPr>
          <a:xfrm>
            <a:off x="950392" y="3091828"/>
            <a:ext cx="3014091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Parser owns the numbers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50392" y="3414289"/>
            <a:ext cx="3014091" cy="1265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Every value, unit, reference range, and flag is extracted deterministically. Reproducible, unit-tested, and incapable of inventing a digit.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8012" y="2946472"/>
            <a:ext cx="3522971" cy="1878707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Shape 9"/>
          <p:cNvSpPr/>
          <p:nvPr/>
        </p:nvSpPr>
        <p:spPr>
          <a:xfrm>
            <a:off x="4328012" y="2946472"/>
            <a:ext cx="19050" cy="1878707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2" name="Text 10"/>
          <p:cNvSpPr/>
          <p:nvPr/>
        </p:nvSpPr>
        <p:spPr>
          <a:xfrm>
            <a:off x="4691540" y="3091828"/>
            <a:ext cx="2795914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Model owns the prose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91540" y="3414289"/>
            <a:ext cx="2795914" cy="1265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MedGemma writes the explanation </a:t>
            </a:r>
            <a:r>
              <a:rPr lang="en-US" sz="1300" i="1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around</a:t>
            </a:r>
            <a:r>
              <a:rPr lang="en-US" sz="13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values that were already extracted. It can improve how a sentence reads. It cannot change what it says.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50983" y="2946472"/>
            <a:ext cx="3522971" cy="1878707"/>
          </a:xfrm>
          <a:custGeom>
            <a:avLst/>
            <a:gdLst/>
            <a:ahLst/>
            <a:cxnLst/>
            <a:rect l="l" t="t" r="r" b="b"/>
            <a:pathLst>
              <a:path w="3522971" h="1878707">
                <a:moveTo>
                  <a:pt x="0" y="0"/>
                </a:moveTo>
                <a:lnTo>
                  <a:pt x="3463091" y="0"/>
                </a:lnTo>
                <a:arcTo wR="59880" hR="59882" stAng="16200000" swAng="5400000"/>
                <a:lnTo>
                  <a:pt x="3522971" y="1818825"/>
                </a:lnTo>
                <a:arcTo wR="59880" hR="59882" stAng="0" swAng="5400000"/>
                <a:lnTo>
                  <a:pt x="0" y="1878707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5" name="Shape 13"/>
          <p:cNvSpPr/>
          <p:nvPr/>
        </p:nvSpPr>
        <p:spPr>
          <a:xfrm>
            <a:off x="7850983" y="2946472"/>
            <a:ext cx="19050" cy="1878707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6" name="Text 14"/>
          <p:cNvSpPr/>
          <p:nvPr/>
        </p:nvSpPr>
        <p:spPr>
          <a:xfrm>
            <a:off x="8214512" y="3091828"/>
            <a:ext cx="3014091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Validator owns the truth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14512" y="3414289"/>
            <a:ext cx="3014091" cy="1012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Every cited line must exist in the source document. Every number must appear in it. No diagnosis, no treatment advice, no reassurance.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201" y="3671960"/>
            <a:ext cx="427622" cy="427633"/>
          </a:xfrm>
          <a:prstGeom prst="roundRect">
            <a:avLst>
              <a:gd name="adj" fmla="val 1680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1057" y="3778818"/>
            <a:ext cx="213811" cy="21381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637172" y="3671960"/>
            <a:ext cx="427622" cy="427633"/>
          </a:xfrm>
          <a:prstGeom prst="roundRect">
            <a:avLst>
              <a:gd name="adj" fmla="val 1680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4028" y="3778818"/>
            <a:ext cx="213811" cy="21381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A63D52A-D942-55D0-6A16-DA9DA145C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6799" y="76149"/>
            <a:ext cx="1101259" cy="11012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041" y="1174552"/>
            <a:ext cx="1278600" cy="260052"/>
          </a:xfrm>
          <a:prstGeom prst="roundRect">
            <a:avLst>
              <a:gd name="adj" fmla="val 22105"/>
            </a:avLst>
          </a:prstGeom>
          <a:solidFill>
            <a:srgbClr val="D6DEF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907630" y="1225848"/>
            <a:ext cx="1683006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05041" y="1492746"/>
            <a:ext cx="10581613" cy="47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The GPU never learns who the patient is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805041" y="2181324"/>
            <a:ext cx="10581613" cy="506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Cheap GPU marketplaces will not sign healthcare data agreements. So we made the GPU not handle patient data at all — compliance burden lives entirely in the CPU tier, which costs a fraction of a cent to run.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1913" y="2851051"/>
            <a:ext cx="5328410" cy="2832298"/>
          </a:xfrm>
          <a:prstGeom prst="roundRect">
            <a:avLst>
              <a:gd name="adj" fmla="val 4349"/>
            </a:avLst>
          </a:prstGeom>
          <a:solidFill>
            <a:srgbClr val="1A3171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7" name="Text 5"/>
          <p:cNvSpPr/>
          <p:nvPr/>
        </p:nvSpPr>
        <p:spPr>
          <a:xfrm>
            <a:off x="852962" y="2996406"/>
            <a:ext cx="4986312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Trusted Tier · CPU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52962" y="3377009"/>
            <a:ext cx="4986312" cy="1143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Handles all identifiable data: decode → OCR → parse → de-identify. No name, no DOB, no record number ever leaves this tier. Verified in CI against 14 identifier categories.</a:t>
            </a:r>
            <a:endParaRPr lang="en-US" sz="13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~$0.03 / hr</a:t>
            </a:r>
            <a:r>
              <a:rPr lang="en-US" sz="1300" dirty="0">
                <a:solidFill>
                  <a:srgbClr val="FFFFF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— the compliance-heavy tier is CPU-cheap.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10849" y="2996406"/>
            <a:ext cx="5082155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Model Tier · GPU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10849" y="3377009"/>
            <a:ext cx="5082155" cy="1143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Receives values only — no identifiers, no BAA needed. PaddleOCR and MedGemma share a single accelerator, so a scan needs one GPU, not two.</a:t>
            </a:r>
            <a:endParaRPr lang="en-US" sz="13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~$0.17 / hr</a:t>
            </a:r>
            <a:r>
              <a:rPr lang="en-US" sz="13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— expensive to run, zero compliance burden.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10849" y="4665663"/>
            <a:ext cx="5082155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De-identification by allowlist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310849" y="5046266"/>
            <a:ext cx="5082155" cy="506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Text is rebuilt from parsed fields, so a line containing a name never had a path through to the model tier.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76926" y="1425079"/>
            <a:ext cx="6009728" cy="359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MedGemma, used as a second reader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5376926" y="1912342"/>
            <a:ext cx="6009728" cy="518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The obvious build hands the photo to MedGemma and deletes the OCR pipeline. We deliberately did not. MedGemma reads the same photo </a:t>
            </a:r>
            <a:r>
              <a:rPr lang="en-US" sz="1000" i="1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independently</a:t>
            </a:r>
            <a:r>
              <a:rPr lang="en-US" sz="10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— a second radiologist, not a replacement for the first.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376926" y="2526209"/>
            <a:ext cx="6009728" cy="677863"/>
          </a:xfrm>
          <a:prstGeom prst="roundRect">
            <a:avLst>
              <a:gd name="adj" fmla="val 81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8" name="Text 5"/>
          <p:cNvSpPr/>
          <p:nvPr/>
        </p:nvSpPr>
        <p:spPr>
          <a:xfrm>
            <a:off x="5514043" y="2663329"/>
            <a:ext cx="573549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Open weights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514043" y="2894211"/>
            <a:ext cx="5735494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Runs on hardware we control — no third-party inference API required.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76926" y="3289102"/>
            <a:ext cx="6009728" cy="677863"/>
          </a:xfrm>
          <a:prstGeom prst="roundRect">
            <a:avLst>
              <a:gd name="adj" fmla="val 81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1" name="Text 8"/>
          <p:cNvSpPr/>
          <p:nvPr/>
        </p:nvSpPr>
        <p:spPr>
          <a:xfrm>
            <a:off x="5514043" y="3426222"/>
            <a:ext cx="573549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Medically tuned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14043" y="3657104"/>
            <a:ext cx="5735494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Document understanding and a vision encoder that reads the page directly.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76926" y="4051995"/>
            <a:ext cx="6009728" cy="677863"/>
          </a:xfrm>
          <a:prstGeom prst="roundRect">
            <a:avLst>
              <a:gd name="adj" fmla="val 8106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4" name="Text 11"/>
          <p:cNvSpPr/>
          <p:nvPr/>
        </p:nvSpPr>
        <p:spPr>
          <a:xfrm>
            <a:off x="5514043" y="4189115"/>
            <a:ext cx="573549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4B, 128K context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514043" y="4419997"/>
            <a:ext cx="5735494" cy="172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Fits on a commodity 16 GB GPU card — affordable at production scale.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76926" y="4814888"/>
            <a:ext cx="6009728" cy="850602"/>
          </a:xfrm>
          <a:prstGeom prst="roundRect">
            <a:avLst>
              <a:gd name="adj" fmla="val 6460"/>
            </a:avLst>
          </a:prstGeom>
          <a:solidFill>
            <a:srgbClr val="F2EEEE"/>
          </a:solidFill>
          <a:ln w="635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17" name="Text 14"/>
          <p:cNvSpPr/>
          <p:nvPr/>
        </p:nvSpPr>
        <p:spPr>
          <a:xfrm>
            <a:off x="5514043" y="4952008"/>
            <a:ext cx="5735494" cy="179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Readers agree → confidence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14043" y="5182890"/>
            <a:ext cx="5735494" cy="34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Readers differ → a human is asked. The model can raise a question. It can never overwrite an answer.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05041" y="1500783"/>
            <a:ext cx="10581613" cy="470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Served on NVIDIA, priced like a rounding error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805041" y="2189361"/>
            <a:ext cx="10581613" cy="506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The same MedGemma model, behind a TensorRT-LLM engine — inference concerns never leak into application code. Because the GPU never sees patient data, it needs no compliance-grade host, making each report cost a fraction of a cent to serve.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041" y="2859088"/>
            <a:ext cx="5218081" cy="14619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1337" y="3049191"/>
            <a:ext cx="4761686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NIM / TensorRT-LLM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071337" y="3371652"/>
            <a:ext cx="4761686" cy="7593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FP8, XQA and paged attention behind an OpenAI-compatible API — standard integration, state-of-the-art throughput.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8474" y="2859088"/>
            <a:ext cx="5218180" cy="14619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34770" y="3049191"/>
            <a:ext cx="4761786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4-bit NF4 weights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434770" y="3371652"/>
            <a:ext cx="4761786" cy="506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A 4B model onto a 16 GB commodity card, roughly halving hourly GPU cost versus FP16.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5041" y="4466431"/>
            <a:ext cx="5218081" cy="12088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1337" y="4656534"/>
            <a:ext cx="4761686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One GPU, two jobs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1071337" y="4978995"/>
            <a:ext cx="4761686" cy="506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PaddleOCR and MedGemma share the same accelerator — a single scan needs one GPU, not two.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8474" y="4466431"/>
            <a:ext cx="5218180" cy="120888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34770" y="4656534"/>
            <a:ext cx="4761786" cy="2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Degrades, never fails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434770" y="4978995"/>
            <a:ext cx="4761786" cy="506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No GPU available? Validated template explanations still ship — the product never goes dark for the patient.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369" y="246808"/>
            <a:ext cx="1320668" cy="214114"/>
          </a:xfrm>
          <a:prstGeom prst="roundRect">
            <a:avLst>
              <a:gd name="adj" fmla="val 22110"/>
            </a:avLst>
          </a:prstGeom>
          <a:solidFill>
            <a:srgbClr val="D6DEF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604901" y="289075"/>
            <a:ext cx="1761188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WHERE WE LAUNCH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66654" y="652016"/>
            <a:ext cx="10581613" cy="387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India first, in the language the patient actually reads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89305" y="1491342"/>
            <a:ext cx="3660386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$20.5B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604901" y="2100645"/>
            <a:ext cx="5229193" cy="193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India diagnostics market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4901" y="2353454"/>
            <a:ext cx="5229193" cy="191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Projected market size by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41725" y="1491342"/>
            <a:ext cx="3660386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2.5B+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5957321" y="2100645"/>
            <a:ext cx="5229193" cy="193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Tests per year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57321" y="2353454"/>
            <a:ext cx="5229193" cy="191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Projected by 2031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89305" y="2812738"/>
            <a:ext cx="3660386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56%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604901" y="3422040"/>
            <a:ext cx="5229193" cy="193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Pathology share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4901" y="3674849"/>
            <a:ext cx="5229193" cy="191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Our primary input format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41725" y="2812738"/>
            <a:ext cx="3660386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2→10</a:t>
            </a:r>
            <a:endParaRPr lang="en-US" sz="3650" dirty="0"/>
          </a:p>
        </p:txBody>
      </p:sp>
      <p:sp>
        <p:nvSpPr>
          <p:cNvPr id="15" name="Text 13"/>
          <p:cNvSpPr/>
          <p:nvPr/>
        </p:nvSpPr>
        <p:spPr>
          <a:xfrm>
            <a:off x="5957321" y="3422040"/>
            <a:ext cx="5229193" cy="193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Languages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57321" y="3674849"/>
            <a:ext cx="5229193" cy="191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English + Hindi today; 8 more shipping next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4901" y="4312956"/>
            <a:ext cx="5321762" cy="1821160"/>
          </a:xfrm>
          <a:prstGeom prst="roundRect">
            <a:avLst>
              <a:gd name="adj" fmla="val 5570"/>
            </a:avLst>
          </a:prstGeom>
          <a:solidFill>
            <a:srgbClr val="1A3171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8" name="Text 16"/>
          <p:cNvSpPr/>
          <p:nvPr/>
        </p:nvSpPr>
        <p:spPr>
          <a:xfrm>
            <a:off x="745788" y="4411580"/>
            <a:ext cx="5039988" cy="193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Language is a legal requirement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5788" y="4703878"/>
            <a:ext cx="5039988" cy="574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India's DPDP Act requires the consent notice in English or an Eighth Schedule language. A patient who cannot read the notice cannot legally consent to processing.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4040" y="4289723"/>
            <a:ext cx="5118964" cy="193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Built for DPDP from the start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4040" y="4582021"/>
            <a:ext cx="5118964" cy="869652"/>
          </a:xfrm>
          <a:prstGeom prst="rect">
            <a:avLst/>
          </a:prstGeom>
          <a:noFill/>
          <a:ln/>
        </p:spPr>
        <p:txBody>
          <a:bodyPr wrap="square" lIns="0" tIns="56358" rIns="0" bIns="0" rtlCol="0" anchor="t">
            <a:normAutofit/>
          </a:bodyPr>
          <a:lstStyle/>
          <a:p>
            <a:pPr marL="223520" indent="-22352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Itemised consent notice before any processing (Rule 3)</a:t>
            </a:r>
            <a:endParaRPr lang="en-US" sz="1100" dirty="0"/>
          </a:p>
          <a:p>
            <a:pPr marL="223520" indent="-22352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Withdrawal as easy as giving consent</a:t>
            </a:r>
            <a:endParaRPr lang="en-US" sz="1100" dirty="0"/>
          </a:p>
          <a:p>
            <a:pPr marL="223520" indent="-22352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Under-18 excluded and enforced in code</a:t>
            </a:r>
            <a:endParaRPr lang="en-US" sz="1100" dirty="0"/>
          </a:p>
          <a:p>
            <a:pPr marL="223520" indent="-223520" algn="l">
              <a:lnSpc>
                <a:spcPct val="11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Nothing stored — nothing to breach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74040" y="5540375"/>
            <a:ext cx="5118964" cy="383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hi-IN" altLang="en-US" sz="1100" b="1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Shipping:</a:t>
            </a:r>
            <a:r>
              <a:rPr lang="hi-IN" altLang="en-US" sz="11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 English, हिन्दी → Tamil, Telugu, Bengali, Marathi, Gujarati, Kannada, Malayalam, Punjabi</a:t>
            </a:r>
            <a:endParaRPr lang="hi-IN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5041" y="807938"/>
            <a:ext cx="748686" cy="214114"/>
          </a:xfrm>
          <a:prstGeom prst="roundRect">
            <a:avLst>
              <a:gd name="adj" fmla="val 22110"/>
            </a:avLst>
          </a:prstGeom>
          <a:solidFill>
            <a:srgbClr val="D6DEF5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889573" y="850205"/>
            <a:ext cx="1189206" cy="129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EVIDENCE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05041" y="1061442"/>
            <a:ext cx="10581613" cy="387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257B8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None of this is a claim. Watch it run.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589445" y="1667272"/>
            <a:ext cx="3660386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132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805041" y="2276574"/>
            <a:ext cx="5229193" cy="193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Tests passing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5041" y="2529384"/>
            <a:ext cx="5229193" cy="191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Parser, validation, OCR, and security — all green in CI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1865" y="1667272"/>
            <a:ext cx="3660386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1.3s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6157461" y="2276574"/>
            <a:ext cx="5229193" cy="193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Photo to values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57461" y="2529384"/>
            <a:ext cx="5229193" cy="191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CPU only, before any GPU is involved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89445" y="2988667"/>
            <a:ext cx="3660386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3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805041" y="3597970"/>
            <a:ext cx="5229193" cy="193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Safety proofs in CI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5041" y="3850779"/>
            <a:ext cx="5229193" cy="191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Offline, retention, and de-identification — verified from outside the app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1865" y="2988667"/>
            <a:ext cx="3660386" cy="464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</a:t>
            </a:r>
            <a:endParaRPr lang="en-US" sz="3650" dirty="0"/>
          </a:p>
        </p:txBody>
      </p:sp>
      <p:sp>
        <p:nvSpPr>
          <p:cNvPr id="15" name="Text 13"/>
          <p:cNvSpPr/>
          <p:nvPr/>
        </p:nvSpPr>
        <p:spPr>
          <a:xfrm>
            <a:off x="6157461" y="3597970"/>
            <a:ext cx="5229193" cy="193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Bytes stored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57461" y="3850779"/>
            <a:ext cx="5229193" cy="191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Varela Round" pitchFamily="34" charset="0"/>
                <a:ea typeface="Varela Round" pitchFamily="34" charset="-122"/>
                <a:cs typeface="Varela Round" pitchFamily="34" charset="-120"/>
              </a:rPr>
              <a:t>No file written, no report content in any log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5041" y="4153297"/>
          <a:ext cx="10581612" cy="1884019"/>
        </p:xfrm>
        <a:graphic>
          <a:graphicData uri="http://schemas.openxmlformats.org/drawingml/2006/table">
            <a:tbl>
              <a:tblPr/>
              <a:tblGrid>
                <a:gridCol w="2645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5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5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54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57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213F"/>
                          </a:solidFill>
                          <a:latin typeface="Varela Round" pitchFamily="34" charset="0"/>
                          <a:ea typeface="Varela Round" pitchFamily="34" charset="-122"/>
                          <a:cs typeface="Varela Round" pitchFamily="34" charset="-120"/>
                        </a:rPr>
                        <a:t>Check</a:t>
                      </a:r>
                      <a:endParaRPr lang="en-US" sz="1100" dirty="0">
                        <a:latin typeface="Varela Round" charset="0"/>
                        <a:ea typeface="Varela Round" charset="0"/>
                        <a:cs typeface="Varela Round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213F"/>
                          </a:solidFill>
                          <a:latin typeface="Varela Round" pitchFamily="34" charset="0"/>
                          <a:ea typeface="Varela Round" pitchFamily="34" charset="-122"/>
                          <a:cs typeface="Varela Round" pitchFamily="34" charset="-120"/>
                        </a:rPr>
                        <a:t>What it proves</a:t>
                      </a:r>
                      <a:endParaRPr lang="en-US" sz="1100" dirty="0">
                        <a:latin typeface="Varela Round" charset="0"/>
                        <a:ea typeface="Varela Round" charset="0"/>
                        <a:cs typeface="Varela Round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213F"/>
                          </a:solidFill>
                          <a:latin typeface="Varela Round" pitchFamily="34" charset="0"/>
                          <a:ea typeface="Varela Round" pitchFamily="34" charset="-122"/>
                          <a:cs typeface="Varela Round" pitchFamily="34" charset="-120"/>
                        </a:rPr>
                        <a:t>Result</a:t>
                      </a:r>
                      <a:endParaRPr lang="en-US" sz="1100" dirty="0">
                        <a:latin typeface="Varela Round" charset="0"/>
                        <a:ea typeface="Varela Round" charset="0"/>
                        <a:cs typeface="Varela Round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213F"/>
                          </a:solidFill>
                          <a:latin typeface="Varela Round" pitchFamily="34" charset="0"/>
                          <a:ea typeface="Varela Round" pitchFamily="34" charset="-122"/>
                          <a:cs typeface="Varela Round" pitchFamily="34" charset="-120"/>
                        </a:rPr>
                        <a:t>Time</a:t>
                      </a:r>
                      <a:endParaRPr lang="en-US" sz="1100" dirty="0">
                        <a:latin typeface="Varela Round" charset="0"/>
                        <a:ea typeface="Varela Round" charset="0"/>
                        <a:cs typeface="Varela Round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4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offline_check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13F"/>
                          </a:solidFill>
                          <a:latin typeface="Varela Round" pitchFamily="34" charset="0"/>
                          <a:ea typeface="Varela Round" pitchFamily="34" charset="-122"/>
                          <a:cs typeface="Varela Round" pitchFamily="34" charset="-120"/>
                        </a:rPr>
                        <a:t>Full pipeline runs with every socket blocked</a:t>
                      </a:r>
                      <a:endParaRPr lang="en-US" sz="1100" dirty="0">
                        <a:latin typeface="Varela Round" charset="0"/>
                        <a:ea typeface="Varela Round" charset="0"/>
                        <a:cs typeface="Varela Round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PASS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13F"/>
                          </a:solidFill>
                          <a:latin typeface="Varela Round" pitchFamily="34" charset="0"/>
                          <a:ea typeface="Varela Round" pitchFamily="34" charset="-122"/>
                          <a:cs typeface="Varela Round" pitchFamily="34" charset="-120"/>
                        </a:rPr>
                        <a:t>0.55 s</a:t>
                      </a:r>
                      <a:endParaRPr lang="en-US" sz="1100" dirty="0">
                        <a:latin typeface="Varela Round" charset="0"/>
                        <a:ea typeface="Varela Round" charset="0"/>
                        <a:cs typeface="Varela Round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4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retention_check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13F"/>
                          </a:solidFill>
                          <a:latin typeface="Varela Round" pitchFamily="34" charset="0"/>
                          <a:ea typeface="Varela Round" pitchFamily="34" charset="-122"/>
                          <a:cs typeface="Varela Round" pitchFamily="34" charset="-120"/>
                        </a:rPr>
                        <a:t>No file written, no report content in any log</a:t>
                      </a:r>
                      <a:endParaRPr lang="en-US" sz="1100" dirty="0">
                        <a:latin typeface="Varela Round" charset="0"/>
                        <a:ea typeface="Varela Round" charset="0"/>
                        <a:cs typeface="Varela Round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PASS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13F"/>
                          </a:solidFill>
                          <a:latin typeface="Varela Round" pitchFamily="34" charset="0"/>
                          <a:ea typeface="Varela Round" pitchFamily="34" charset="-122"/>
                          <a:cs typeface="Varela Round" pitchFamily="34" charset="-120"/>
                        </a:rPr>
                        <a:t>2.6 s</a:t>
                      </a:r>
                      <a:endParaRPr lang="en-US" sz="1100" dirty="0">
                        <a:latin typeface="Varela Round" charset="0"/>
                        <a:ea typeface="Varela Round" charset="0"/>
                        <a:cs typeface="Varela Round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3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13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deident_check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13F"/>
                          </a:solidFill>
                          <a:latin typeface="Varela Round" pitchFamily="34" charset="0"/>
                          <a:ea typeface="Varela Round" pitchFamily="34" charset="-122"/>
                          <a:cs typeface="Varela Round" pitchFamily="34" charset="-120"/>
                        </a:rPr>
                        <a:t>14 identifier categories never reach the model</a:t>
                      </a:r>
                      <a:endParaRPr lang="en-US" sz="1100" dirty="0">
                        <a:latin typeface="Varela Round" charset="0"/>
                        <a:ea typeface="Varela Round" charset="0"/>
                        <a:cs typeface="Varela Round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PASS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213F"/>
                          </a:solidFill>
                          <a:latin typeface="Varela Round" pitchFamily="34" charset="0"/>
                          <a:ea typeface="Varela Round" pitchFamily="34" charset="-122"/>
                          <a:cs typeface="Varela Round" pitchFamily="34" charset="-120"/>
                        </a:rPr>
                        <a:t>0.36 s</a:t>
                      </a:r>
                      <a:endParaRPr lang="en-US" sz="1100" dirty="0">
                        <a:latin typeface="Varela Round" charset="0"/>
                        <a:ea typeface="Varela Round" charset="0"/>
                        <a:cs typeface="Varela Round" charset="0"/>
                      </a:endParaRPr>
                    </a:p>
                  </a:txBody>
                  <a:tcPr marL="140895" marR="14089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84086" y="335981"/>
            <a:ext cx="1734598" cy="98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1521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DEEP DIVE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84086" y="606636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3257B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Path a Report Takes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7798" y="1021171"/>
            <a:ext cx="10477145" cy="61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is split into two strict tiers. Identifiable data — name, DOB, MRN — never crosses the dashed boundary. What reaches the model tier is a rebuilt string like </a:t>
            </a:r>
            <a:r>
              <a:rPr lang="en-US" sz="10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Glucose 108 mg/dL (ref 70–99) [H]</a:t>
            </a:r>
            <a:r>
              <a:rPr lang="en-US" sz="1050" dirty="0">
                <a:solidFill>
                  <a:srgbClr val="1521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constructed from parsed fields, never from the original text. Statements return and are validated against the source document before any user sees them.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86235"/>
            <a:ext cx="7055851" cy="38954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53" y="1990609"/>
            <a:ext cx="3117825" cy="31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not hand the photo to MedGemma directly?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72379" y="2380517"/>
            <a:ext cx="3701756" cy="1660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latin typeface="Inter" pitchFamily="34" charset="0"/>
                <a:ea typeface="Inter" pitchFamily="34" charset="-122"/>
                <a:cs typeface="Inter" pitchFamily="34" charset="-120"/>
              </a:rPr>
              <a:t>MedGemma is multimodal and its 1.5 release specifically improves medical document understanding. That path was rejected for one reason: a generated </a:t>
            </a:r>
            <a:r>
              <a:rPr lang="en-US" sz="900" dirty="0">
                <a:highlight>
                  <a:srgbClr val="C0C0C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13.5</a:t>
            </a:r>
            <a:r>
              <a:rPr lang="en-US" sz="900" dirty="0">
                <a:latin typeface="Inter" pitchFamily="34" charset="0"/>
                <a:ea typeface="Inter" pitchFamily="34" charset="-122"/>
                <a:cs typeface="Inter" pitchFamily="34" charset="-120"/>
              </a:rPr>
              <a:t> is indistinguishable from a hallucinated </a:t>
            </a:r>
            <a:r>
              <a:rPr lang="en-US" sz="900" dirty="0">
                <a:highlight>
                  <a:srgbClr val="C0C0C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13.5</a:t>
            </a:r>
            <a:r>
              <a:rPr lang="en-US" sz="900" dirty="0">
                <a:latin typeface="Inter" pitchFamily="34" charset="0"/>
                <a:ea typeface="Inter" pitchFamily="34" charset="-122"/>
                <a:cs typeface="Inter" pitchFamily="34" charset="-120"/>
              </a:rPr>
              <a:t>. The model writes prose about values already extracted — it cannot change what the report says</a:t>
            </a: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72379" y="3572170"/>
            <a:ext cx="53033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257B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vision encoder as second reader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972379" y="4040650"/>
            <a:ext cx="3790534" cy="206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MedGemma's vision encoder reads the same photo independently — like a second radiologist, not a replacement for the first. Where both readings agree, confidence is real. Where they diverge, the value is flagged for human review. </a:t>
            </a:r>
            <a:r>
              <a:rPr lang="en-US" sz="900" b="1" dirty="0">
                <a:solidFill>
                  <a:srgbClr val="15213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model can raise a question; it can never overwrite an answer.</a:t>
            </a:r>
            <a:r>
              <a:rPr lang="en-US" sz="900" dirty="0">
                <a:solidFill>
                  <a:srgbClr val="1521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Because reading the image means seeing the patient's name, vision cross-check runs on trusted infrastructure only and is off by default.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72983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00522"/>
            <a:ext cx="1211331" cy="176014"/>
          </a:xfrm>
          <a:prstGeom prst="roundRect">
            <a:avLst>
              <a:gd name="adj" fmla="val 4329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3" name="Text 1"/>
          <p:cNvSpPr/>
          <p:nvPr/>
        </p:nvSpPr>
        <p:spPr>
          <a:xfrm>
            <a:off x="730926" y="1035248"/>
            <a:ext cx="1682013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1521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COMPONENTS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1208881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3257B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Pieces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61475" y="1692176"/>
            <a:ext cx="1147833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focused modules compose the full pipeline. Each owns a single responsibility; none bleeds into another's concern.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40719"/>
            <a:ext cx="289414" cy="2894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2331442"/>
            <a:ext cx="538367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Ingest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1475" y="2560935"/>
            <a:ext cx="5383673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plainmed/ingest · plainmed/ocr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Photo, PDF, or pasted text. OCR returns positioned boxes; rows are grouped by vertical overlap and column gaps are preserved — naive reading order would pair one row's value with the next row's reference range.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46448" y="1940719"/>
            <a:ext cx="289414" cy="2894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46448" y="2331442"/>
            <a:ext cx="538377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Extract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146448" y="2560935"/>
            <a:ext cx="538377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plainmed/extract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Deterministic parsing into values with stable source IDs. Raw strings are kept verbatim. Unparsed lines are surfaced, never silently dropped.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52800"/>
            <a:ext cx="289414" cy="28942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1475" y="3743523"/>
            <a:ext cx="538367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Explain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661475" y="3973016"/>
            <a:ext cx="5383673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plainmed/pipeline · plainmed/glossary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visually distinct card types: what the report says, what a term means (local glossary), and what the report does not answer.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6448" y="3352800"/>
            <a:ext cx="289414" cy="28942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46448" y="3743523"/>
            <a:ext cx="538377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146448" y="3973016"/>
            <a:ext cx="538377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plainmed/pipeline/validate · plainmed/safety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checks applied identically to every backend's output — template, local model, or remote tier.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07421"/>
            <a:ext cx="289414" cy="28942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1475" y="4998145"/>
            <a:ext cx="5383673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Generate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61475" y="5227638"/>
            <a:ext cx="5383673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plainmed/llm · plainmed/verify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interchangeable backends: template (no GPU), local MedGemma, a separate model tier, and NVIDIA NIM / TensorRT-LLM. Unavailability degrades to the template engine — the pipeline never fails outright.</a:t>
            </a:r>
            <a:endParaRPr lang="en-US" sz="9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46448" y="4607421"/>
            <a:ext cx="289414" cy="28942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146448" y="4998145"/>
            <a:ext cx="5383772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Serve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6146448" y="5227638"/>
            <a:ext cx="538377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plainmed/api · plainmed/compliance</a:t>
            </a:r>
            <a:endParaRPr lang="en-US" sz="9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 gate, anonymous signed sessions, rate limiting, audit logging, and an itemised DPDP notice in English and Hindi. Nothing is written to disk or logs.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44958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1653</Words>
  <Application>Microsoft Office PowerPoint</Application>
  <PresentationFormat>Widescreen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Varela Round</vt:lpstr>
      <vt:lpstr>Consolas</vt:lpstr>
      <vt:lpstr>Inter Bold</vt:lpstr>
      <vt:lpstr>Roboto Slab Medium</vt:lpstr>
      <vt:lpstr>Twemoji Mozilla, Apple Color Emoji, Segoe UI Emoji, Segoe UI Symbol, Noto Color Emoji, EmojiOne Color, Android Emoji, sans-serif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Maris Prabhakaran M</dc:creator>
  <cp:lastModifiedBy>Maris Prabhakaran M</cp:lastModifiedBy>
  <cp:revision>4</cp:revision>
  <dcterms:created xsi:type="dcterms:W3CDTF">2026-08-28T21:40:00Z</dcterms:created>
  <dcterms:modified xsi:type="dcterms:W3CDTF">2026-08-30T02:18:22Z</dcterms:modified>
</cp:coreProperties>
</file>